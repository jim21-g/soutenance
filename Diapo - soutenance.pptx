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68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0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017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074920"/>
            <a:ext cx="10360152" cy="0"/>
          </a:xfrm>
          <a:prstGeom prst="line">
            <a:avLst/>
          </a:prstGeom>
          <a:noFill/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91440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· MASTER 2 FINANCE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424160" cy="105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</a:pPr>
            <a:r>
              <a:rPr lang="fr-FR" sz="60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</a:t>
            </a:r>
            <a:r>
              <a:rPr lang="fr-FR" sz="6000" b="1" noProof="1">
                <a:solidFill>
                  <a:srgbClr val="FFFFFF"/>
                </a:solidFill>
                <a:latin typeface="Cambria" pitchFamily="34" charset="0"/>
              </a:rPr>
              <a:t>Francfort à Dijon</a:t>
            </a:r>
          </a:p>
        </p:txBody>
      </p:sp>
      <p:sp>
        <p:nvSpPr>
          <p:cNvPr id="5" name="Text 3"/>
          <p:cNvSpPr/>
          <p:nvPr/>
        </p:nvSpPr>
        <p:spPr>
          <a:xfrm>
            <a:off x="868680" y="2377431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7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la BCE, spread souverain et transmission à l'économie réelle</a:t>
            </a:r>
            <a:endParaRPr lang="fr-FR" sz="1700" noProof="1"/>
          </a:p>
        </p:txBody>
      </p:sp>
      <p:sp>
        <p:nvSpPr>
          <p:cNvPr id="6" name="Shape 4"/>
          <p:cNvSpPr/>
          <p:nvPr/>
        </p:nvSpPr>
        <p:spPr>
          <a:xfrm>
            <a:off x="2103120" y="5074920"/>
            <a:ext cx="7955280" cy="0"/>
          </a:xfrm>
          <a:prstGeom prst="line">
            <a:avLst/>
          </a:prstGeom>
          <a:noFill/>
          <a:ln w="1905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7" name="Shape 5"/>
          <p:cNvSpPr/>
          <p:nvPr/>
        </p:nvSpPr>
        <p:spPr>
          <a:xfrm>
            <a:off x="2020824" y="4992624"/>
            <a:ext cx="164592" cy="164592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" name="Shape 6"/>
          <p:cNvSpPr/>
          <p:nvPr/>
        </p:nvSpPr>
        <p:spPr>
          <a:xfrm>
            <a:off x="9976104" y="499262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1005840" y="5221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kern="0" spc="2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· BCE</a:t>
            </a:r>
            <a:endParaRPr lang="fr-FR" sz="1000" noProof="1"/>
          </a:p>
        </p:txBody>
      </p:sp>
      <p:sp>
        <p:nvSpPr>
          <p:cNvPr id="10" name="Text 8"/>
          <p:cNvSpPr/>
          <p:nvPr/>
        </p:nvSpPr>
        <p:spPr>
          <a:xfrm>
            <a:off x="8961120" y="5221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kern="0" spc="2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· PME</a:t>
            </a:r>
            <a:endParaRPr lang="fr-FR" sz="1000" noProof="1"/>
          </a:p>
        </p:txBody>
      </p:sp>
      <p:sp>
        <p:nvSpPr>
          <p:cNvPr id="11" name="Text 9"/>
          <p:cNvSpPr/>
          <p:nvPr/>
        </p:nvSpPr>
        <p:spPr>
          <a:xfrm>
            <a:off x="914400" y="5806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fr-FR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 Groupes Consolidés — Cotation FIBEN</a:t>
            </a:r>
            <a:endParaRPr lang="fr-FR" sz="1300" noProof="1"/>
          </a:p>
          <a:p>
            <a:pPr marL="0" indent="0" algn="l">
              <a:spcAft>
                <a:spcPts val="200"/>
              </a:spcAft>
              <a:buNone/>
            </a:pPr>
            <a:r>
              <a:rPr lang="fr-FR" sz="12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de France · Succursale de Dijon</a:t>
            </a:r>
            <a:endParaRPr lang="fr-FR" sz="1300" noProof="1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58521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40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740664" y="502920"/>
            <a:ext cx="2273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INSTITUTIONNEL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4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piliers : </a:t>
            </a:r>
            <a:r>
              <a:rPr lang="fr-FR" sz="34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intersection</a:t>
            </a:r>
            <a:endParaRPr lang="fr-FR" sz="3400" noProof="1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L'action territoriale de la Banque de France naît au croisement de deux piliers, au plus près du tissu local.</a:t>
            </a:r>
            <a:endParaRPr lang="fr-FR" sz="1500" noProof="1"/>
          </a:p>
        </p:txBody>
      </p:sp>
      <p:sp>
        <p:nvSpPr>
          <p:cNvPr id="6" name="Shape 4"/>
          <p:cNvSpPr/>
          <p:nvPr/>
        </p:nvSpPr>
        <p:spPr>
          <a:xfrm>
            <a:off x="790956" y="233172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fr-FR" noProof="1">
              <a:highlight>
                <a:srgbClr val="008080"/>
              </a:highlight>
            </a:endParaRPr>
          </a:p>
        </p:txBody>
      </p:sp>
      <p:sp>
        <p:nvSpPr>
          <p:cNvPr id="7" name="Shape 5"/>
          <p:cNvSpPr/>
          <p:nvPr/>
        </p:nvSpPr>
        <p:spPr>
          <a:xfrm>
            <a:off x="1911096" y="27203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2E6EB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525" y="2950769"/>
            <a:ext cx="499262" cy="4992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3836" y="3794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fr-FR" sz="2100" b="1" noProof="1">
                <a:solidFill>
                  <a:srgbClr val="8A99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</a:t>
            </a:r>
            <a:endParaRPr lang="fr-FR" sz="2100" noProof="1"/>
          </a:p>
          <a:p>
            <a:pPr marL="0" indent="0" algn="ctr">
              <a:lnSpc>
                <a:spcPct val="95000"/>
              </a:lnSpc>
              <a:buNone/>
            </a:pPr>
            <a:r>
              <a:rPr lang="fr-FR" sz="2100" b="1" noProof="1">
                <a:solidFill>
                  <a:srgbClr val="8A99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monétaire</a:t>
            </a:r>
            <a:endParaRPr lang="fr-FR" sz="2100" noProof="1"/>
          </a:p>
        </p:txBody>
      </p:sp>
      <p:sp>
        <p:nvSpPr>
          <p:cNvPr id="10" name="Text 7"/>
          <p:cNvSpPr/>
          <p:nvPr/>
        </p:nvSpPr>
        <p:spPr>
          <a:xfrm>
            <a:off x="973836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kern="0" spc="2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FACE VISIBLE</a:t>
            </a:r>
            <a:endParaRPr lang="fr-FR" sz="1000" noProof="1"/>
          </a:p>
        </p:txBody>
      </p:sp>
      <p:sp>
        <p:nvSpPr>
          <p:cNvPr id="11" name="Shape 8"/>
          <p:cNvSpPr/>
          <p:nvPr/>
        </p:nvSpPr>
        <p:spPr>
          <a:xfrm>
            <a:off x="4494276" y="233172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1A2233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12" name="Shape 9"/>
          <p:cNvSpPr/>
          <p:nvPr/>
        </p:nvSpPr>
        <p:spPr>
          <a:xfrm>
            <a:off x="5614416" y="2720340"/>
            <a:ext cx="960120" cy="960120"/>
          </a:xfrm>
          <a:prstGeom prst="ellipse">
            <a:avLst/>
          </a:prstGeom>
          <a:solidFill>
            <a:srgbClr val="232E42"/>
          </a:solidFill>
          <a:ln w="15875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845" y="2950769"/>
            <a:ext cx="499262" cy="499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77156" y="3794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fr-FR" sz="21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Stabilité</a:t>
            </a:r>
            <a:endParaRPr lang="fr-FR" sz="2100" noProof="1"/>
          </a:p>
          <a:p>
            <a:pPr marL="0" indent="0" algn="ctr">
              <a:lnSpc>
                <a:spcPct val="95000"/>
              </a:lnSpc>
              <a:buNone/>
            </a:pPr>
            <a:r>
              <a:rPr lang="fr-FR" sz="21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financière</a:t>
            </a:r>
            <a:endParaRPr lang="fr-FR" sz="2100" noProof="1"/>
          </a:p>
        </p:txBody>
      </p:sp>
      <p:sp>
        <p:nvSpPr>
          <p:cNvPr id="15" name="Shape 11"/>
          <p:cNvSpPr/>
          <p:nvPr/>
        </p:nvSpPr>
        <p:spPr>
          <a:xfrm>
            <a:off x="8197596" y="233172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1A2233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16" name="Shape 12"/>
          <p:cNvSpPr/>
          <p:nvPr/>
        </p:nvSpPr>
        <p:spPr>
          <a:xfrm>
            <a:off x="9317736" y="2720340"/>
            <a:ext cx="960120" cy="960120"/>
          </a:xfrm>
          <a:prstGeom prst="ellipse">
            <a:avLst/>
          </a:prstGeom>
          <a:solidFill>
            <a:srgbClr val="232E42"/>
          </a:solidFill>
          <a:ln w="15875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8165" y="2950769"/>
            <a:ext cx="499262" cy="4992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0476" y="3794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fr-FR" sz="21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à</a:t>
            </a:r>
            <a:endParaRPr lang="fr-FR" sz="2100" noProof="1"/>
          </a:p>
          <a:p>
            <a:pPr marL="0" indent="0" algn="ctr">
              <a:lnSpc>
                <a:spcPct val="95000"/>
              </a:lnSpc>
              <a:buNone/>
            </a:pPr>
            <a:r>
              <a:rPr lang="fr-FR" sz="21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l'économie</a:t>
            </a:r>
            <a:endParaRPr lang="fr-FR" sz="2100" noProof="1"/>
          </a:p>
        </p:txBody>
      </p:sp>
      <p:sp>
        <p:nvSpPr>
          <p:cNvPr id="19" name="Shape 14"/>
          <p:cNvSpPr/>
          <p:nvPr/>
        </p:nvSpPr>
        <p:spPr>
          <a:xfrm>
            <a:off x="4860036" y="5394960"/>
            <a:ext cx="6172200" cy="0"/>
          </a:xfrm>
          <a:prstGeom prst="line">
            <a:avLst/>
          </a:prstGeom>
          <a:noFill/>
          <a:ln w="31750">
            <a:solidFill>
              <a:srgbClr val="C8492F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0" name="Shape 15"/>
          <p:cNvSpPr/>
          <p:nvPr/>
        </p:nvSpPr>
        <p:spPr>
          <a:xfrm>
            <a:off x="4796028" y="5330952"/>
            <a:ext cx="128016" cy="128016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1" name="Shape 16"/>
          <p:cNvSpPr/>
          <p:nvPr/>
        </p:nvSpPr>
        <p:spPr>
          <a:xfrm>
            <a:off x="10968228" y="5330952"/>
            <a:ext cx="128016" cy="128016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2" name="Text 17"/>
          <p:cNvSpPr/>
          <p:nvPr/>
        </p:nvSpPr>
        <p:spPr>
          <a:xfrm>
            <a:off x="4860036" y="553212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300" noProof="1">
                <a:solidFill>
                  <a:srgbClr val="C8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TERRITORIALE</a:t>
            </a:r>
            <a:endParaRPr lang="fr-FR" sz="1100" noProof="1"/>
          </a:p>
        </p:txBody>
      </p:sp>
      <p:sp>
        <p:nvSpPr>
          <p:cNvPr id="23" name="Text 18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fr-FR" sz="1000" noProof="1"/>
          </a:p>
        </p:txBody>
      </p:sp>
      <p:sp>
        <p:nvSpPr>
          <p:cNvPr id="24" name="Text 19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40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740664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MISSION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4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Modéliser le risque de défaut à 3 ans</a:t>
            </a:r>
            <a:endParaRPr lang="fr-FR" sz="3400" noProof="1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6583680" cy="1278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0" b="1" kern="0" spc="100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FIBEN</a:t>
            </a:r>
            <a:endParaRPr lang="fr-FR" sz="10000" noProof="1"/>
          </a:p>
        </p:txBody>
      </p:sp>
      <p:sp>
        <p:nvSpPr>
          <p:cNvPr id="6" name="Text 4"/>
          <p:cNvSpPr/>
          <p:nvPr/>
        </p:nvSpPr>
        <p:spPr>
          <a:xfrm>
            <a:off x="557784" y="3351276"/>
            <a:ext cx="6583680" cy="36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de référence nationale pour l'évaluation du risque de crédit privé.</a:t>
            </a:r>
            <a:endParaRPr lang="fr-FR" sz="1500" noProof="1"/>
          </a:p>
        </p:txBody>
      </p:sp>
      <p:sp>
        <p:nvSpPr>
          <p:cNvPr id="7" name="Text 5"/>
          <p:cNvSpPr/>
          <p:nvPr/>
        </p:nvSpPr>
        <p:spPr>
          <a:xfrm>
            <a:off x="557784" y="4113353"/>
            <a:ext cx="6126480" cy="36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50" b="1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périmètre : </a:t>
            </a:r>
            <a:r>
              <a:rPr lang="fr-FR" sz="135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groupes consolidés/ combinés.</a:t>
            </a:r>
            <a:endParaRPr lang="fr-FR" sz="1350" noProof="1"/>
          </a:p>
        </p:txBody>
      </p:sp>
      <p:sp>
        <p:nvSpPr>
          <p:cNvPr id="11" name="Text 9"/>
          <p:cNvSpPr/>
          <p:nvPr/>
        </p:nvSpPr>
        <p:spPr>
          <a:xfrm>
            <a:off x="10058400" y="1437437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1200" noProof="1"/>
          </a:p>
        </p:txBody>
      </p:sp>
      <p:sp>
        <p:nvSpPr>
          <p:cNvPr id="13" name="Text 11"/>
          <p:cNvSpPr/>
          <p:nvPr/>
        </p:nvSpPr>
        <p:spPr>
          <a:xfrm>
            <a:off x="9281160" y="5512003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3000" noProof="1"/>
          </a:p>
        </p:txBody>
      </p:sp>
      <p:sp>
        <p:nvSpPr>
          <p:cNvPr id="14" name="Text 12"/>
          <p:cNvSpPr/>
          <p:nvPr/>
        </p:nvSpPr>
        <p:spPr>
          <a:xfrm>
            <a:off x="10469880" y="5685739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1200" noProof="1"/>
          </a:p>
        </p:txBody>
      </p:sp>
      <p:sp>
        <p:nvSpPr>
          <p:cNvPr id="15" name="Text 13"/>
          <p:cNvSpPr/>
          <p:nvPr/>
        </p:nvSpPr>
        <p:spPr>
          <a:xfrm>
            <a:off x="1023874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1100" b="1" kern="0" spc="2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</a:t>
            </a:r>
            <a:endParaRPr lang="fr-FR" sz="1100" noProof="1"/>
          </a:p>
          <a:p>
            <a:pPr marL="0" indent="0" algn="l">
              <a:lnSpc>
                <a:spcPct val="100000"/>
              </a:lnSpc>
              <a:buNone/>
            </a:pPr>
            <a:r>
              <a:rPr lang="fr-FR" sz="1100" b="1" kern="0" spc="2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COTATION</a:t>
            </a:r>
            <a:endParaRPr lang="fr-FR" sz="1100" noProof="1"/>
          </a:p>
        </p:txBody>
      </p:sp>
      <p:sp>
        <p:nvSpPr>
          <p:cNvPr id="16" name="Text 14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fr-FR" sz="1000" noProof="1"/>
          </a:p>
        </p:txBody>
      </p:sp>
      <p:sp>
        <p:nvSpPr>
          <p:cNvPr id="17" name="Text 15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  <p:pic>
        <p:nvPicPr>
          <p:cNvPr id="18" name="Image 17" descr="Comprendre la cotation et l'indicateur dirigeant">
            <a:extLst>
              <a:ext uri="{FF2B5EF4-FFF2-40B4-BE49-F238E27FC236}">
                <a16:creationId xmlns:a16="http://schemas.microsoft.com/office/drawing/2014/main" id="{10EE4715-4D85-9477-B95A-FF214691E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270000"/>
            <a:ext cx="2374900" cy="477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978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COTATION COMPTE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4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un indicateur. </a:t>
            </a:r>
            <a:r>
              <a:rPr lang="fr-FR" sz="34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rouage systémique.</a:t>
            </a:r>
            <a:endParaRPr lang="fr-FR" sz="3400" noProof="1"/>
          </a:p>
        </p:txBody>
      </p:sp>
      <p:sp>
        <p:nvSpPr>
          <p:cNvPr id="5" name="Shape 3"/>
          <p:cNvSpPr/>
          <p:nvPr/>
        </p:nvSpPr>
        <p:spPr>
          <a:xfrm>
            <a:off x="5159733" y="2073656"/>
            <a:ext cx="1371600" cy="1371600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633" y="2416556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415626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kern="0" spc="2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COTATION</a:t>
            </a:r>
            <a:endParaRPr lang="fr-FR" sz="1200" noProof="1"/>
          </a:p>
        </p:txBody>
      </p:sp>
      <p:sp>
        <p:nvSpPr>
          <p:cNvPr id="8" name="Shape 5"/>
          <p:cNvSpPr/>
          <p:nvPr/>
        </p:nvSpPr>
        <p:spPr>
          <a:xfrm flipH="1">
            <a:off x="3246120" y="3351276"/>
            <a:ext cx="2299716" cy="900684"/>
          </a:xfrm>
          <a:prstGeom prst="line">
            <a:avLst/>
          </a:prstGeom>
          <a:noFill/>
          <a:ln w="1905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9" name="Shape 6"/>
          <p:cNvSpPr/>
          <p:nvPr/>
        </p:nvSpPr>
        <p:spPr>
          <a:xfrm>
            <a:off x="973836" y="425196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232E42"/>
          </a:solidFill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0" name="Shape 7"/>
          <p:cNvSpPr/>
          <p:nvPr/>
        </p:nvSpPr>
        <p:spPr>
          <a:xfrm>
            <a:off x="1316736" y="4663440"/>
            <a:ext cx="868680" cy="868680"/>
          </a:xfrm>
          <a:prstGeom prst="ellipse">
            <a:avLst/>
          </a:prstGeom>
          <a:solidFill>
            <a:srgbClr val="1A2233"/>
          </a:solidFill>
          <a:ln w="15875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219" y="487192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45436" y="4544568"/>
            <a:ext cx="3017520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9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Fonds propres bancaires</a:t>
            </a:r>
            <a:endParaRPr lang="fr-FR" sz="1900" noProof="1"/>
          </a:p>
        </p:txBody>
      </p:sp>
      <p:sp>
        <p:nvSpPr>
          <p:cNvPr id="13" name="Text 9"/>
          <p:cNvSpPr/>
          <p:nvPr/>
        </p:nvSpPr>
        <p:spPr>
          <a:xfrm>
            <a:off x="2345436" y="50383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banques modulent leurs exigences réglementaires en capital.</a:t>
            </a:r>
            <a:endParaRPr lang="fr-FR" sz="1300" noProof="1"/>
          </a:p>
        </p:txBody>
      </p:sp>
      <p:sp>
        <p:nvSpPr>
          <p:cNvPr id="14" name="Shape 10"/>
          <p:cNvSpPr/>
          <p:nvPr/>
        </p:nvSpPr>
        <p:spPr>
          <a:xfrm>
            <a:off x="6185916" y="3351276"/>
            <a:ext cx="2743200" cy="900684"/>
          </a:xfrm>
          <a:prstGeom prst="line">
            <a:avLst/>
          </a:prstGeom>
          <a:noFill/>
          <a:ln w="1905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5" name="Shape 11"/>
          <p:cNvSpPr/>
          <p:nvPr/>
        </p:nvSpPr>
        <p:spPr>
          <a:xfrm>
            <a:off x="6643116" y="425196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232E42"/>
          </a:solidFill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6" name="Shape 12"/>
          <p:cNvSpPr/>
          <p:nvPr/>
        </p:nvSpPr>
        <p:spPr>
          <a:xfrm>
            <a:off x="6986016" y="4663440"/>
            <a:ext cx="868680" cy="868680"/>
          </a:xfrm>
          <a:prstGeom prst="ellipse">
            <a:avLst/>
          </a:prstGeom>
          <a:solidFill>
            <a:srgbClr val="1A2233"/>
          </a:solidFill>
          <a:ln w="15875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499" y="487192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14716" y="4544568"/>
            <a:ext cx="3017520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9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Collatéral BCE</a:t>
            </a:r>
            <a:endParaRPr lang="fr-FR" sz="1900" noProof="1"/>
          </a:p>
        </p:txBody>
      </p:sp>
      <p:sp>
        <p:nvSpPr>
          <p:cNvPr id="19" name="Text 14"/>
          <p:cNvSpPr/>
          <p:nvPr/>
        </p:nvSpPr>
        <p:spPr>
          <a:xfrm>
            <a:off x="8014716" y="50383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créances deviennent éligibles en garantie au refinancement.</a:t>
            </a:r>
            <a:endParaRPr lang="fr-FR" sz="1300" noProof="1"/>
          </a:p>
        </p:txBody>
      </p:sp>
      <p:sp>
        <p:nvSpPr>
          <p:cNvPr id="20" name="Text 15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fr-FR" sz="1000" noProof="1"/>
          </a:p>
        </p:txBody>
      </p:sp>
      <p:sp>
        <p:nvSpPr>
          <p:cNvPr id="21" name="Text 16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40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740664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D'ANALYSE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4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Lire un bilan, c'est lire </a:t>
            </a:r>
            <a:r>
              <a:rPr lang="fr-FR" sz="34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contexte</a:t>
            </a:r>
            <a:endParaRPr lang="fr-FR" sz="3400" noProof="1"/>
          </a:p>
        </p:txBody>
      </p:sp>
      <p:sp>
        <p:nvSpPr>
          <p:cNvPr id="5" name="Shape 3"/>
          <p:cNvSpPr/>
          <p:nvPr/>
        </p:nvSpPr>
        <p:spPr>
          <a:xfrm>
            <a:off x="5454396" y="1874520"/>
            <a:ext cx="1280160" cy="1280160"/>
          </a:xfrm>
          <a:prstGeom prst="ellipse">
            <a:avLst/>
          </a:prstGeom>
          <a:solidFill>
            <a:srgbClr val="F2F4F7"/>
          </a:solidFill>
          <a:ln w="15875">
            <a:solidFill>
              <a:srgbClr val="E2E6EB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230" y="2143354"/>
            <a:ext cx="742493" cy="7424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65276" y="3657600"/>
            <a:ext cx="4572000" cy="2194560"/>
          </a:xfrm>
          <a:prstGeom prst="roundRect">
            <a:avLst>
              <a:gd name="adj" fmla="val 4167"/>
            </a:avLst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8" name="Text 5"/>
          <p:cNvSpPr/>
          <p:nvPr/>
        </p:nvSpPr>
        <p:spPr>
          <a:xfrm>
            <a:off x="1431036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400" b="1" kern="0" spc="2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QUANTITATIF</a:t>
            </a:r>
            <a:endParaRPr lang="fr-FR" sz="1400" noProof="1"/>
          </a:p>
        </p:txBody>
      </p:sp>
      <p:sp>
        <p:nvSpPr>
          <p:cNvPr id="9" name="Text 6"/>
          <p:cNvSpPr/>
          <p:nvPr/>
        </p:nvSpPr>
        <p:spPr>
          <a:xfrm>
            <a:off x="1431036" y="4480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5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lecture des états financiers nécessaire, mais jamais suffisante.</a:t>
            </a:r>
            <a:endParaRPr lang="fr-FR" sz="1500" noProof="1"/>
          </a:p>
        </p:txBody>
      </p:sp>
      <p:sp>
        <p:nvSpPr>
          <p:cNvPr id="10" name="Shape 7"/>
          <p:cNvSpPr/>
          <p:nvPr/>
        </p:nvSpPr>
        <p:spPr>
          <a:xfrm>
            <a:off x="6551676" y="3657600"/>
            <a:ext cx="4572000" cy="2194560"/>
          </a:xfrm>
          <a:prstGeom prst="roundRect">
            <a:avLst>
              <a:gd name="adj" fmla="val 4167"/>
            </a:avLst>
          </a:prstGeom>
          <a:solidFill>
            <a:srgbClr val="1A2233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11" name="Text 8"/>
          <p:cNvSpPr/>
          <p:nvPr/>
        </p:nvSpPr>
        <p:spPr>
          <a:xfrm>
            <a:off x="6917436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400" b="1" kern="0" spc="200" noProof="1">
                <a:solidFill>
                  <a:srgbClr val="C8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QUALITATIF</a:t>
            </a:r>
            <a:endParaRPr lang="fr-FR" sz="1400" noProof="1"/>
          </a:p>
        </p:txBody>
      </p:sp>
      <p:sp>
        <p:nvSpPr>
          <p:cNvPr id="12" name="Text 9"/>
          <p:cNvSpPr/>
          <p:nvPr/>
        </p:nvSpPr>
        <p:spPr>
          <a:xfrm>
            <a:off x="6917436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r>
              <a:rPr lang="fr-FR" sz="1400" b="1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concurrentiel</a:t>
            </a:r>
            <a:r>
              <a:rPr lang="fr-FR" sz="1400" b="1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Enquêtes de conjoncture (BFC)</a:t>
            </a:r>
            <a:endParaRPr lang="fr-FR" sz="1400" noProof="1"/>
          </a:p>
        </p:txBody>
      </p:sp>
      <p:sp>
        <p:nvSpPr>
          <p:cNvPr id="13" name="Text 1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fr-FR" sz="1000" noProof="1"/>
          </a:p>
        </p:txBody>
      </p:sp>
      <p:sp>
        <p:nvSpPr>
          <p:cNvPr id="14" name="Text 11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1274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1152144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CONDUCTEUR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4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courroie de </a:t>
            </a:r>
            <a:r>
              <a:rPr lang="fr-FR" sz="46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transmission</a:t>
            </a:r>
            <a:endParaRPr lang="fr-FR" sz="4600" noProof="1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70332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2" y="3703320"/>
            <a:ext cx="914400" cy="914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34640" y="4206240"/>
            <a:ext cx="6519672" cy="0"/>
          </a:xfrm>
          <a:prstGeom prst="line">
            <a:avLst/>
          </a:prstGeom>
          <a:noFill/>
          <a:ln w="1905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8" name="Shape 4"/>
          <p:cNvSpPr/>
          <p:nvPr/>
        </p:nvSpPr>
        <p:spPr>
          <a:xfrm>
            <a:off x="2752344" y="4123944"/>
            <a:ext cx="164592" cy="164592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Shape 5"/>
          <p:cNvSpPr/>
          <p:nvPr/>
        </p:nvSpPr>
        <p:spPr>
          <a:xfrm>
            <a:off x="9272016" y="412394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0" name="Shape 6"/>
          <p:cNvSpPr/>
          <p:nvPr/>
        </p:nvSpPr>
        <p:spPr>
          <a:xfrm>
            <a:off x="5682996" y="3794760"/>
            <a:ext cx="822960" cy="822960"/>
          </a:xfrm>
          <a:prstGeom prst="ellipse">
            <a:avLst/>
          </a:prstGeom>
          <a:solidFill>
            <a:srgbClr val="C8492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88" y="3959352"/>
            <a:ext cx="493776" cy="493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4700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kern="0" spc="2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DIJONNAISE</a:t>
            </a:r>
            <a:endParaRPr lang="fr-FR" sz="1200" noProof="1"/>
          </a:p>
        </p:txBody>
      </p:sp>
      <p:sp>
        <p:nvSpPr>
          <p:cNvPr id="13" name="Text 8"/>
          <p:cNvSpPr/>
          <p:nvPr/>
        </p:nvSpPr>
        <p:spPr>
          <a:xfrm>
            <a:off x="9128762" y="4686299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kern="0" spc="2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</a:t>
            </a:r>
            <a:endParaRPr lang="fr-FR" sz="1200" noProof="1"/>
          </a:p>
        </p:txBody>
      </p:sp>
      <p:sp>
        <p:nvSpPr>
          <p:cNvPr id="14" name="Text 9"/>
          <p:cNvSpPr/>
          <p:nvPr/>
        </p:nvSpPr>
        <p:spPr>
          <a:xfrm>
            <a:off x="1828800" y="566928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i="1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évaluer la solvabilité d'une PME sans comprendre l'environnement de taux façonné par la BCE.</a:t>
            </a:r>
            <a:endParaRPr lang="fr-FR" sz="1500" noProof="1"/>
          </a:p>
        </p:txBody>
      </p:sp>
      <p:sp>
        <p:nvSpPr>
          <p:cNvPr id="15" name="Text 1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fr-FR" sz="1000" noProof="1"/>
          </a:p>
        </p:txBody>
      </p:sp>
      <p:sp>
        <p:nvSpPr>
          <p:cNvPr id="16" name="Text 11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978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TENSION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L'interdit et son </a:t>
            </a:r>
            <a:r>
              <a:rPr lang="fr-FR" sz="32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contournement légal</a:t>
            </a:r>
            <a:endParaRPr lang="fr-FR" sz="3200" noProof="1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fr-FR" sz="4000" noProof="1">
                <a:solidFill>
                  <a:srgbClr val="9F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</a:t>
            </a:r>
            <a:endParaRPr lang="fr-FR" sz="4000" noProof="1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fr-FR" sz="13000" noProof="1"/>
          </a:p>
        </p:txBody>
      </p:sp>
      <p:sp>
        <p:nvSpPr>
          <p:cNvPr id="7" name="Text 5"/>
          <p:cNvSpPr/>
          <p:nvPr/>
        </p:nvSpPr>
        <p:spPr>
          <a:xfrm>
            <a:off x="658368" y="4526280"/>
            <a:ext cx="4736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4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 de Lisbonne : interdiction de financer directement les États. Aucune monétisation de la dette.</a:t>
            </a:r>
            <a:endParaRPr lang="fr-FR" sz="1400" noProof="1"/>
          </a:p>
        </p:txBody>
      </p:sp>
      <p:sp>
        <p:nvSpPr>
          <p:cNvPr id="8" name="Shape 6"/>
          <p:cNvSpPr/>
          <p:nvPr/>
        </p:nvSpPr>
        <p:spPr>
          <a:xfrm>
            <a:off x="5669280" y="2331720"/>
            <a:ext cx="5760720" cy="1417320"/>
          </a:xfrm>
          <a:prstGeom prst="roundRect">
            <a:avLst>
              <a:gd name="adj" fmla="val 6452"/>
            </a:avLst>
          </a:prstGeom>
          <a:solidFill>
            <a:srgbClr val="232E42"/>
          </a:solidFill>
          <a:ln w="15875">
            <a:solidFill>
              <a:srgbClr val="C8492F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715768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03720" y="262432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fr-FR" sz="1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primaire</a:t>
            </a:r>
            <a:endParaRPr lang="fr-FR" sz="1900" noProof="1"/>
          </a:p>
          <a:p>
            <a:pPr marL="0" indent="0" algn="l">
              <a:spcAft>
                <a:spcPts val="300"/>
              </a:spcAft>
              <a:buNone/>
            </a:pPr>
            <a:r>
              <a:rPr lang="fr-FR" sz="1300" noProof="1">
                <a:solidFill>
                  <a:srgbClr val="C8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la dette à l'émission —&gt; INTERDIT</a:t>
            </a:r>
            <a:endParaRPr lang="fr-FR" sz="1900" noProof="1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3822192"/>
            <a:ext cx="402336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69280" y="4343400"/>
            <a:ext cx="57607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75488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463600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fr-FR" sz="1900" b="1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secondaire</a:t>
            </a:r>
            <a:endParaRPr lang="fr-FR" sz="1900" noProof="1"/>
          </a:p>
          <a:p>
            <a:pPr marL="0" indent="0" algn="l">
              <a:spcAft>
                <a:spcPts val="300"/>
              </a:spcAft>
              <a:buNone/>
            </a:pPr>
            <a:r>
              <a:rPr lang="fr-FR" sz="1300" noProof="1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Racheter massivement —&gt; LE QUANTITATIVE EASING</a:t>
            </a:r>
            <a:endParaRPr lang="fr-FR" sz="1900" noProof="1"/>
          </a:p>
        </p:txBody>
      </p:sp>
      <p:sp>
        <p:nvSpPr>
          <p:cNvPr id="15" name="Text 1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fr-FR" sz="1000" noProof="1"/>
          </a:p>
        </p:txBody>
      </p:sp>
      <p:sp>
        <p:nvSpPr>
          <p:cNvPr id="16" name="Text 11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40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740664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QUANTIFIER, PAS DÉCRIRE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modèle pour isoler </a:t>
            </a:r>
            <a:r>
              <a:rPr lang="fr-FR" sz="32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l'effet anesthésiant</a:t>
            </a:r>
            <a:endParaRPr lang="fr-FR" sz="3200" noProof="1"/>
          </a:p>
        </p:txBody>
      </p:sp>
      <p:sp>
        <p:nvSpPr>
          <p:cNvPr id="5" name="Shape 3"/>
          <p:cNvSpPr/>
          <p:nvPr/>
        </p:nvSpPr>
        <p:spPr>
          <a:xfrm>
            <a:off x="676656" y="228600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6" name="Text 4"/>
          <p:cNvSpPr/>
          <p:nvPr/>
        </p:nvSpPr>
        <p:spPr>
          <a:xfrm>
            <a:off x="676656" y="2286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</a:t>
            </a:r>
            <a:endParaRPr lang="fr-FR" sz="2200" noProof="1"/>
          </a:p>
        </p:txBody>
      </p:sp>
      <p:sp>
        <p:nvSpPr>
          <p:cNvPr id="7" name="Shape 5"/>
          <p:cNvSpPr/>
          <p:nvPr/>
        </p:nvSpPr>
        <p:spPr>
          <a:xfrm>
            <a:off x="3465576" y="228600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8" name="Text 6"/>
          <p:cNvSpPr/>
          <p:nvPr/>
        </p:nvSpPr>
        <p:spPr>
          <a:xfrm>
            <a:off x="3465576" y="2286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Italie</a:t>
            </a:r>
            <a:endParaRPr lang="fr-FR" sz="2200" noProof="1"/>
          </a:p>
        </p:txBody>
      </p:sp>
      <p:sp>
        <p:nvSpPr>
          <p:cNvPr id="9" name="Shape 7"/>
          <p:cNvSpPr/>
          <p:nvPr/>
        </p:nvSpPr>
        <p:spPr>
          <a:xfrm>
            <a:off x="6254496" y="228600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10" name="Text 8"/>
          <p:cNvSpPr/>
          <p:nvPr/>
        </p:nvSpPr>
        <p:spPr>
          <a:xfrm>
            <a:off x="6254496" y="2286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Espagne</a:t>
            </a:r>
            <a:endParaRPr lang="fr-FR" sz="2200" noProof="1"/>
          </a:p>
        </p:txBody>
      </p:sp>
      <p:sp>
        <p:nvSpPr>
          <p:cNvPr id="11" name="Shape 9"/>
          <p:cNvSpPr/>
          <p:nvPr/>
        </p:nvSpPr>
        <p:spPr>
          <a:xfrm>
            <a:off x="9043416" y="228600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12" name="Text 10"/>
          <p:cNvSpPr/>
          <p:nvPr/>
        </p:nvSpPr>
        <p:spPr>
          <a:xfrm>
            <a:off x="9043416" y="2286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Portugal</a:t>
            </a:r>
            <a:endParaRPr lang="fr-FR" sz="2200" noProof="1"/>
          </a:p>
        </p:txBody>
      </p:sp>
      <p:sp>
        <p:nvSpPr>
          <p:cNvPr id="13" name="Text 11"/>
          <p:cNvSpPr/>
          <p:nvPr/>
        </p:nvSpPr>
        <p:spPr>
          <a:xfrm>
            <a:off x="676656" y="190195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2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4 PAYS</a:t>
            </a:r>
            <a:endParaRPr lang="fr-FR" sz="1100" noProof="1"/>
          </a:p>
        </p:txBody>
      </p:sp>
      <p:sp>
        <p:nvSpPr>
          <p:cNvPr id="14" name="Text 12"/>
          <p:cNvSpPr/>
          <p:nvPr/>
        </p:nvSpPr>
        <p:spPr>
          <a:xfrm>
            <a:off x="1463040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6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</a:t>
            </a:r>
            <a:endParaRPr lang="fr-FR" sz="2600" noProof="1"/>
          </a:p>
        </p:txBody>
      </p:sp>
      <p:sp>
        <p:nvSpPr>
          <p:cNvPr id="15" name="Shape 13"/>
          <p:cNvSpPr/>
          <p:nvPr/>
        </p:nvSpPr>
        <p:spPr>
          <a:xfrm>
            <a:off x="2743200" y="4434840"/>
            <a:ext cx="4023360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6" name="Shape 14"/>
          <p:cNvSpPr/>
          <p:nvPr/>
        </p:nvSpPr>
        <p:spPr>
          <a:xfrm>
            <a:off x="2697480" y="4361688"/>
            <a:ext cx="146304" cy="146304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7" name="Shape 15"/>
          <p:cNvSpPr/>
          <p:nvPr/>
        </p:nvSpPr>
        <p:spPr>
          <a:xfrm>
            <a:off x="6693408" y="4361688"/>
            <a:ext cx="146304" cy="146304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8" name="Text 16"/>
          <p:cNvSpPr/>
          <p:nvPr/>
        </p:nvSpPr>
        <p:spPr>
          <a:xfrm>
            <a:off x="6995160" y="4206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6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fr-FR" sz="2600" noProof="1"/>
          </a:p>
        </p:txBody>
      </p:sp>
      <p:sp>
        <p:nvSpPr>
          <p:cNvPr id="19" name="Shape 17"/>
          <p:cNvSpPr/>
          <p:nvPr/>
        </p:nvSpPr>
        <p:spPr>
          <a:xfrm>
            <a:off x="8595360" y="4023360"/>
            <a:ext cx="3108960" cy="868680"/>
          </a:xfrm>
          <a:prstGeom prst="roundRect">
            <a:avLst>
              <a:gd name="adj" fmla="val 12632"/>
            </a:avLst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425196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41832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fr-FR" sz="1100" noProof="1"/>
          </a:p>
          <a:p>
            <a:pPr marL="0" indent="0" algn="l">
              <a:buNone/>
            </a:pPr>
            <a:r>
              <a:rPr lang="fr-FR" sz="1800" b="1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fixes</a:t>
            </a:r>
            <a:endParaRPr lang="fr-FR" sz="1100" noProof="1"/>
          </a:p>
        </p:txBody>
      </p:sp>
      <p:sp>
        <p:nvSpPr>
          <p:cNvPr id="22" name="Text 19"/>
          <p:cNvSpPr/>
          <p:nvPr/>
        </p:nvSpPr>
        <p:spPr>
          <a:xfrm>
            <a:off x="1463040" y="516636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400" i="1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 la réputation historique et les spécificités de chaque pays pour isoler la seule politique monétaire.</a:t>
            </a:r>
            <a:endParaRPr lang="fr-FR" sz="1400" noProof="1"/>
          </a:p>
        </p:txBody>
      </p:sp>
      <p:sp>
        <p:nvSpPr>
          <p:cNvPr id="23" name="Text 2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fr-FR" sz="1000" noProof="1"/>
          </a:p>
        </p:txBody>
      </p:sp>
      <p:sp>
        <p:nvSpPr>
          <p:cNvPr id="24" name="Text 21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978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coefficients, </a:t>
            </a:r>
            <a:r>
              <a:rPr lang="fr-FR" sz="32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enseignements</a:t>
            </a:r>
            <a:endParaRPr lang="fr-FR" sz="3200" noProof="1"/>
          </a:p>
        </p:txBody>
      </p:sp>
      <p:sp>
        <p:nvSpPr>
          <p:cNvPr id="5" name="Shape 3"/>
          <p:cNvSpPr/>
          <p:nvPr/>
        </p:nvSpPr>
        <p:spPr>
          <a:xfrm>
            <a:off x="562356" y="242316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232E42"/>
          </a:solidFill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6" name="Text 4"/>
          <p:cNvSpPr/>
          <p:nvPr/>
        </p:nvSpPr>
        <p:spPr>
          <a:xfrm>
            <a:off x="882396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kern="0" spc="2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fr-FR" sz="1300" noProof="1"/>
          </a:p>
        </p:txBody>
      </p:sp>
      <p:sp>
        <p:nvSpPr>
          <p:cNvPr id="7" name="Text 5"/>
          <p:cNvSpPr/>
          <p:nvPr/>
        </p:nvSpPr>
        <p:spPr>
          <a:xfrm>
            <a:off x="745236" y="3337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54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+3,4</a:t>
            </a:r>
            <a:r>
              <a:rPr lang="fr-FR" sz="2200" noProof="1">
                <a:solidFill>
                  <a:srgbClr val="9F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pb</a:t>
            </a:r>
            <a:endParaRPr lang="fr-FR" sz="5400" noProof="1"/>
          </a:p>
        </p:txBody>
      </p:sp>
      <p:sp>
        <p:nvSpPr>
          <p:cNvPr id="8" name="Shape 6"/>
          <p:cNvSpPr/>
          <p:nvPr/>
        </p:nvSpPr>
        <p:spPr>
          <a:xfrm>
            <a:off x="1476756" y="4480560"/>
            <a:ext cx="1554480" cy="0"/>
          </a:xfrm>
          <a:prstGeom prst="line">
            <a:avLst/>
          </a:prstGeom>
          <a:noFill/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745236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kern="0" spc="2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/ PIB</a:t>
            </a:r>
            <a:endParaRPr lang="fr-FR" sz="1300" noProof="1"/>
          </a:p>
        </p:txBody>
      </p:sp>
      <p:sp>
        <p:nvSpPr>
          <p:cNvPr id="10" name="Text 8"/>
          <p:cNvSpPr/>
          <p:nvPr/>
        </p:nvSpPr>
        <p:spPr>
          <a:xfrm>
            <a:off x="745236" y="4965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50" i="1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marchés sanctionnent encore</a:t>
            </a:r>
            <a:endParaRPr lang="fr-FR" sz="1250" noProof="1"/>
          </a:p>
        </p:txBody>
      </p:sp>
      <p:sp>
        <p:nvSpPr>
          <p:cNvPr id="11" name="Shape 9"/>
          <p:cNvSpPr/>
          <p:nvPr/>
        </p:nvSpPr>
        <p:spPr>
          <a:xfrm>
            <a:off x="4402836" y="242316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232E42"/>
          </a:solidFill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2" name="Text 10"/>
          <p:cNvSpPr/>
          <p:nvPr/>
        </p:nvSpPr>
        <p:spPr>
          <a:xfrm>
            <a:off x="4722876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kern="0" spc="2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fr-FR" sz="1300" noProof="1"/>
          </a:p>
        </p:txBody>
      </p:sp>
      <p:sp>
        <p:nvSpPr>
          <p:cNvPr id="13" name="Text 11"/>
          <p:cNvSpPr/>
          <p:nvPr/>
        </p:nvSpPr>
        <p:spPr>
          <a:xfrm>
            <a:off x="4585716" y="3337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54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−0,53</a:t>
            </a:r>
            <a:endParaRPr lang="fr-FR" sz="5400" noProof="1"/>
          </a:p>
        </p:txBody>
      </p:sp>
      <p:sp>
        <p:nvSpPr>
          <p:cNvPr id="14" name="Shape 12"/>
          <p:cNvSpPr/>
          <p:nvPr/>
        </p:nvSpPr>
        <p:spPr>
          <a:xfrm>
            <a:off x="5317236" y="4480560"/>
            <a:ext cx="1554480" cy="0"/>
          </a:xfrm>
          <a:prstGeom prst="line">
            <a:avLst/>
          </a:prstGeom>
          <a:noFill/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5" name="Text 13"/>
          <p:cNvSpPr/>
          <p:nvPr/>
        </p:nvSpPr>
        <p:spPr>
          <a:xfrm>
            <a:off x="4585716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kern="0" spc="2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BCE</a:t>
            </a:r>
            <a:endParaRPr lang="fr-FR" sz="1300" noProof="1"/>
          </a:p>
        </p:txBody>
      </p:sp>
      <p:sp>
        <p:nvSpPr>
          <p:cNvPr id="16" name="Text 14"/>
          <p:cNvSpPr/>
          <p:nvPr/>
        </p:nvSpPr>
        <p:spPr>
          <a:xfrm>
            <a:off x="4585716" y="4965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50" i="1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L'effet anesthésiant</a:t>
            </a:r>
            <a:endParaRPr lang="fr-FR" sz="1250" noProof="1"/>
          </a:p>
        </p:txBody>
      </p:sp>
      <p:sp>
        <p:nvSpPr>
          <p:cNvPr id="17" name="Shape 15"/>
          <p:cNvSpPr/>
          <p:nvPr/>
        </p:nvSpPr>
        <p:spPr>
          <a:xfrm>
            <a:off x="8243316" y="242316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C8492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18" name="Text 16"/>
          <p:cNvSpPr/>
          <p:nvPr/>
        </p:nvSpPr>
        <p:spPr>
          <a:xfrm>
            <a:off x="8563356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kern="0" spc="2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fr-FR" sz="1300" noProof="1"/>
          </a:p>
        </p:txBody>
      </p:sp>
      <p:sp>
        <p:nvSpPr>
          <p:cNvPr id="19" name="Text 17"/>
          <p:cNvSpPr/>
          <p:nvPr/>
        </p:nvSpPr>
        <p:spPr>
          <a:xfrm>
            <a:off x="8426196" y="3337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54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−0,02</a:t>
            </a:r>
            <a:endParaRPr lang="fr-FR" sz="5400" noProof="1"/>
          </a:p>
        </p:txBody>
      </p:sp>
      <p:sp>
        <p:nvSpPr>
          <p:cNvPr id="20" name="Shape 18"/>
          <p:cNvSpPr/>
          <p:nvPr/>
        </p:nvSpPr>
        <p:spPr>
          <a:xfrm>
            <a:off x="9157716" y="4480560"/>
            <a:ext cx="155448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1" name="Text 19"/>
          <p:cNvSpPr/>
          <p:nvPr/>
        </p:nvSpPr>
        <p:spPr>
          <a:xfrm>
            <a:off x="8426196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kern="0" spc="2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· PEUR</a:t>
            </a:r>
            <a:endParaRPr lang="fr-FR" sz="1300" noProof="1"/>
          </a:p>
        </p:txBody>
      </p:sp>
      <p:sp>
        <p:nvSpPr>
          <p:cNvPr id="22" name="Text 20"/>
          <p:cNvSpPr/>
          <p:nvPr/>
        </p:nvSpPr>
        <p:spPr>
          <a:xfrm>
            <a:off x="8426196" y="4965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50" i="1" noProof="1">
                <a:solidFill>
                  <a:srgbClr val="F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contre-intuitif</a:t>
            </a:r>
            <a:endParaRPr lang="fr-FR" sz="1250" noProof="1"/>
          </a:p>
        </p:txBody>
      </p:sp>
      <p:sp>
        <p:nvSpPr>
          <p:cNvPr id="23" name="Text 2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fr-FR" sz="1000" noProof="1"/>
          </a:p>
        </p:txBody>
      </p:sp>
      <p:sp>
        <p:nvSpPr>
          <p:cNvPr id="24" name="Text 22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40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740664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 01 · DETTE / PIB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marchés ne sont pas aveugles</a:t>
            </a:r>
            <a:endParaRPr lang="fr-FR" sz="3200" noProof="1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+3,4</a:t>
            </a:r>
            <a:endParaRPr lang="fr-FR" sz="13000" noProof="1"/>
          </a:p>
        </p:txBody>
      </p:sp>
      <p:sp>
        <p:nvSpPr>
          <p:cNvPr id="6" name="Text 4"/>
          <p:cNvSpPr/>
          <p:nvPr/>
        </p:nvSpPr>
        <p:spPr>
          <a:xfrm>
            <a:off x="566928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b="1" kern="0" spc="300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BASE</a:t>
            </a:r>
            <a:endParaRPr lang="fr-FR" sz="1500" noProof="1"/>
          </a:p>
        </p:txBody>
      </p:sp>
      <p:sp>
        <p:nvSpPr>
          <p:cNvPr id="7" name="Text 5"/>
          <p:cNvSpPr/>
          <p:nvPr/>
        </p:nvSpPr>
        <p:spPr>
          <a:xfrm>
            <a:off x="566928" y="4434840"/>
            <a:ext cx="5212080" cy="509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5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sous perfusion de la BCE, la trajectoire d'endettement n'est jamais totalement ignorée des investisseurs.</a:t>
            </a:r>
            <a:endParaRPr lang="fr-FR" sz="1500" noProof="1"/>
          </a:p>
        </p:txBody>
      </p:sp>
      <p:sp>
        <p:nvSpPr>
          <p:cNvPr id="8" name="Shape 6"/>
          <p:cNvSpPr/>
          <p:nvPr/>
        </p:nvSpPr>
        <p:spPr>
          <a:xfrm>
            <a:off x="6766560" y="2194560"/>
            <a:ext cx="4663440" cy="301752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71780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kern="0" spc="2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MÉCANISME</a:t>
            </a:r>
            <a:endParaRPr lang="fr-FR" sz="1100" noProof="1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92608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0956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600" b="1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point de ratio Dette / PIB</a:t>
            </a:r>
            <a:endParaRPr lang="fr-FR" sz="1600" noProof="1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3611880"/>
            <a:ext cx="274320" cy="41148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11480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09560" y="4114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800" b="1" noProof="1">
                <a:solidFill>
                  <a:srgbClr val="C8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+3,4 pb</a:t>
            </a:r>
            <a:r>
              <a:rPr lang="fr-FR" sz="1600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 spread souverain</a:t>
            </a:r>
            <a:endParaRPr lang="fr-FR" sz="1800" noProof="1"/>
          </a:p>
        </p:txBody>
      </p:sp>
      <p:sp>
        <p:nvSpPr>
          <p:cNvPr id="15" name="Text 1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fr-FR" sz="1000" noProof="1"/>
          </a:p>
        </p:txBody>
      </p:sp>
      <p:sp>
        <p:nvSpPr>
          <p:cNvPr id="16" name="Text 11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40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740664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 02 · BILAN DE L'EUROSYSTÈME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L'effet anesthésiant de la BCE</a:t>
            </a:r>
            <a:endParaRPr lang="fr-FR" sz="3200" noProof="1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−0,53</a:t>
            </a:r>
            <a:endParaRPr lang="fr-FR" sz="13000" noProof="1"/>
          </a:p>
        </p:txBody>
      </p:sp>
      <p:sp>
        <p:nvSpPr>
          <p:cNvPr id="6" name="Text 4"/>
          <p:cNvSpPr/>
          <p:nvPr/>
        </p:nvSpPr>
        <p:spPr>
          <a:xfrm>
            <a:off x="566928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b="1" kern="0" spc="200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BILAN BCE</a:t>
            </a:r>
            <a:endParaRPr lang="fr-FR" sz="1500" noProof="1"/>
          </a:p>
        </p:txBody>
      </p:sp>
      <p:sp>
        <p:nvSpPr>
          <p:cNvPr id="7" name="Text 5"/>
          <p:cNvSpPr/>
          <p:nvPr/>
        </p:nvSpPr>
        <p:spPr>
          <a:xfrm>
            <a:off x="566928" y="4434840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5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raréfiant l'offre de dette, la BCE pousse les investisseurs vers le risque et écrase les primes. L'argent devient bon marché.</a:t>
            </a:r>
            <a:endParaRPr lang="fr-FR" sz="1500" noProof="1"/>
          </a:p>
        </p:txBody>
      </p:sp>
      <p:sp>
        <p:nvSpPr>
          <p:cNvPr id="8" name="Shape 6"/>
          <p:cNvSpPr/>
          <p:nvPr/>
        </p:nvSpPr>
        <p:spPr>
          <a:xfrm>
            <a:off x="6858000" y="2194560"/>
            <a:ext cx="4572000" cy="3017520"/>
          </a:xfrm>
          <a:prstGeom prst="roundRect">
            <a:avLst>
              <a:gd name="adj" fmla="val 3636"/>
            </a:avLst>
          </a:prstGeom>
          <a:solidFill>
            <a:srgbClr val="1A2233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9" name="Shape 7"/>
          <p:cNvSpPr/>
          <p:nvPr/>
        </p:nvSpPr>
        <p:spPr>
          <a:xfrm>
            <a:off x="7360920" y="4343400"/>
            <a:ext cx="365760" cy="502920"/>
          </a:xfrm>
          <a:prstGeom prst="rect">
            <a:avLst/>
          </a:prstGeom>
          <a:solidFill>
            <a:srgbClr val="6E8299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0" name="Shape 8"/>
          <p:cNvSpPr/>
          <p:nvPr/>
        </p:nvSpPr>
        <p:spPr>
          <a:xfrm>
            <a:off x="7863840" y="3977640"/>
            <a:ext cx="365760" cy="868680"/>
          </a:xfrm>
          <a:prstGeom prst="rect">
            <a:avLst/>
          </a:prstGeom>
          <a:solidFill>
            <a:srgbClr val="6E8299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1" name="Shape 9"/>
          <p:cNvSpPr/>
          <p:nvPr/>
        </p:nvSpPr>
        <p:spPr>
          <a:xfrm>
            <a:off x="8366760" y="3566160"/>
            <a:ext cx="365760" cy="1280160"/>
          </a:xfrm>
          <a:prstGeom prst="rect">
            <a:avLst/>
          </a:prstGeom>
          <a:solidFill>
            <a:srgbClr val="6E8299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2" name="Shape 10"/>
          <p:cNvSpPr/>
          <p:nvPr/>
        </p:nvSpPr>
        <p:spPr>
          <a:xfrm>
            <a:off x="8869680" y="3108960"/>
            <a:ext cx="365760" cy="1737360"/>
          </a:xfrm>
          <a:prstGeom prst="rect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3" name="Text 11"/>
          <p:cNvSpPr/>
          <p:nvPr/>
        </p:nvSpPr>
        <p:spPr>
          <a:xfrm>
            <a:off x="7315200" y="4919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kern="0" spc="1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↑</a:t>
            </a:r>
            <a:endParaRPr lang="fr-FR" sz="1100" noProof="1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3749040"/>
            <a:ext cx="54864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92124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kern="0" spc="1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fr-FR" sz="1100" noProof="1"/>
          </a:p>
        </p:txBody>
      </p:sp>
      <p:sp>
        <p:nvSpPr>
          <p:cNvPr id="16" name="Shape 13"/>
          <p:cNvSpPr/>
          <p:nvPr/>
        </p:nvSpPr>
        <p:spPr>
          <a:xfrm>
            <a:off x="9966960" y="3657600"/>
            <a:ext cx="1005840" cy="0"/>
          </a:xfrm>
          <a:prstGeom prst="line">
            <a:avLst/>
          </a:prstGeom>
          <a:noFill/>
          <a:ln w="12700">
            <a:solidFill>
              <a:srgbClr val="6E8299"/>
            </a:solidFill>
            <a:prstDash val="dash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388620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92124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i="1" noProof="1">
                <a:solidFill>
                  <a:srgbClr val="C8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écrasé</a:t>
            </a:r>
            <a:endParaRPr lang="fr-FR" sz="1300" noProof="1"/>
          </a:p>
        </p:txBody>
      </p:sp>
      <p:sp>
        <p:nvSpPr>
          <p:cNvPr id="19" name="Text 15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fr-FR" sz="1000" noProof="1"/>
          </a:p>
        </p:txBody>
      </p:sp>
      <p:sp>
        <p:nvSpPr>
          <p:cNvPr id="20" name="Text 16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978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 03 · L'INDICE DE LA PEUR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contre-intuitif : </a:t>
            </a:r>
            <a:r>
              <a:rPr lang="fr-FR" sz="32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peur a disparu</a:t>
            </a:r>
            <a:endParaRPr lang="fr-FR" sz="3200" noProof="1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kern="0" spc="2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ATTENDU</a:t>
            </a:r>
            <a:endParaRPr lang="fr-FR" sz="1200" noProof="1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2100" i="1" strike="sngStrike" noProof="1">
                <a:solidFill>
                  <a:srgbClr val="6E82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Flight to quality » → spreads du Sud en hausse</a:t>
            </a:r>
            <a:endParaRPr lang="fr-FR" sz="2100" noProof="1"/>
          </a:p>
        </p:txBody>
      </p:sp>
      <p:sp>
        <p:nvSpPr>
          <p:cNvPr id="7" name="Text 5"/>
          <p:cNvSpPr/>
          <p:nvPr/>
        </p:nvSpPr>
        <p:spPr>
          <a:xfrm>
            <a:off x="6035040" y="21031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−0,02</a:t>
            </a:r>
            <a:endParaRPr lang="fr-FR" sz="9600" noProof="1"/>
          </a:p>
        </p:txBody>
      </p:sp>
      <p:sp>
        <p:nvSpPr>
          <p:cNvPr id="8" name="Text 6"/>
          <p:cNvSpPr/>
          <p:nvPr/>
        </p:nvSpPr>
        <p:spPr>
          <a:xfrm>
            <a:off x="6144768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400" b="1" kern="0" spc="200" noProof="1">
                <a:solidFill>
                  <a:srgbClr val="C8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COEFFICIENT EST NÉGATIF</a:t>
            </a:r>
            <a:endParaRPr lang="fr-FR" sz="1400" noProof="1"/>
          </a:p>
        </p:txBody>
      </p:sp>
      <p:sp>
        <p:nvSpPr>
          <p:cNvPr id="9" name="Shape 7"/>
          <p:cNvSpPr/>
          <p:nvPr/>
        </p:nvSpPr>
        <p:spPr>
          <a:xfrm>
            <a:off x="777240" y="4526280"/>
            <a:ext cx="10634472" cy="0"/>
          </a:xfrm>
          <a:prstGeom prst="line">
            <a:avLst/>
          </a:prstGeom>
          <a:noFill/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0" name="Text 8"/>
          <p:cNvSpPr/>
          <p:nvPr/>
        </p:nvSpPr>
        <p:spPr>
          <a:xfrm>
            <a:off x="777240" y="4754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5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a compris le jeu de la BCE. L'anticipation même de l'intervention tue la spéculation dans l'œuf.</a:t>
            </a:r>
            <a:endParaRPr lang="fr-FR" sz="1500" noProof="1"/>
          </a:p>
        </p:txBody>
      </p:sp>
      <p:sp>
        <p:nvSpPr>
          <p:cNvPr id="11" name="Shape 9"/>
          <p:cNvSpPr/>
          <p:nvPr/>
        </p:nvSpPr>
        <p:spPr>
          <a:xfrm>
            <a:off x="7863840" y="4892040"/>
            <a:ext cx="1691640" cy="640080"/>
          </a:xfrm>
          <a:prstGeom prst="roundRect">
            <a:avLst>
              <a:gd name="adj" fmla="val 50000"/>
            </a:avLst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2" name="Text 10"/>
          <p:cNvSpPr/>
          <p:nvPr/>
        </p:nvSpPr>
        <p:spPr>
          <a:xfrm>
            <a:off x="7863840" y="4892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kern="0" spc="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</a:t>
            </a:r>
            <a:endParaRPr lang="fr-FR" sz="1800" noProof="1"/>
          </a:p>
        </p:txBody>
      </p:sp>
      <p:sp>
        <p:nvSpPr>
          <p:cNvPr id="13" name="Shape 11"/>
          <p:cNvSpPr/>
          <p:nvPr/>
        </p:nvSpPr>
        <p:spPr>
          <a:xfrm>
            <a:off x="9738360" y="4892040"/>
            <a:ext cx="1691640" cy="640080"/>
          </a:xfrm>
          <a:prstGeom prst="roundRect">
            <a:avLst>
              <a:gd name="adj" fmla="val 50000"/>
            </a:avLst>
          </a:prstGeom>
          <a:solidFill>
            <a:srgbClr val="232E42"/>
          </a:solidFill>
          <a:ln w="12700">
            <a:solidFill>
              <a:srgbClr val="C8492F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4" name="Text 12"/>
          <p:cNvSpPr/>
          <p:nvPr/>
        </p:nvSpPr>
        <p:spPr>
          <a:xfrm>
            <a:off x="9738360" y="4892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kern="0" spc="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</a:t>
            </a:r>
            <a:endParaRPr lang="fr-FR" sz="1800" noProof="1"/>
          </a:p>
        </p:txBody>
      </p:sp>
      <p:sp>
        <p:nvSpPr>
          <p:cNvPr id="15" name="Text 13"/>
          <p:cNvSpPr/>
          <p:nvPr/>
        </p:nvSpPr>
        <p:spPr>
          <a:xfrm>
            <a:off x="7863840" y="5577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i="1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armes anti-fragmentation</a:t>
            </a:r>
            <a:endParaRPr lang="fr-FR" sz="1100" noProof="1"/>
          </a:p>
        </p:txBody>
      </p:sp>
      <p:sp>
        <p:nvSpPr>
          <p:cNvPr id="16" name="Text 14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fr-FR" sz="1000" noProof="1"/>
          </a:p>
        </p:txBody>
      </p:sp>
      <p:sp>
        <p:nvSpPr>
          <p:cNvPr id="17" name="Text 15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10677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1152144" y="1169529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CONTREPARTIE CACHÉE</a:t>
            </a:r>
            <a:endParaRPr lang="fr-FR" sz="1150" noProof="1"/>
          </a:p>
        </p:txBody>
      </p:sp>
      <p:sp>
        <p:nvSpPr>
          <p:cNvPr id="4" name="Shape 2"/>
          <p:cNvSpPr/>
          <p:nvPr/>
        </p:nvSpPr>
        <p:spPr>
          <a:xfrm>
            <a:off x="5317235" y="1992489"/>
            <a:ext cx="1554480" cy="1554480"/>
          </a:xfrm>
          <a:prstGeom prst="ellipse">
            <a:avLst/>
          </a:prstGeom>
          <a:solidFill>
            <a:srgbClr val="232E42"/>
          </a:solidFill>
          <a:ln w="15875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311" y="2365564"/>
            <a:ext cx="808330" cy="80833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705854" y="4671884"/>
            <a:ext cx="77724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3638409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5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Aléa moral</a:t>
            </a:r>
            <a:endParaRPr lang="fr-FR" sz="5600" noProof="1"/>
          </a:p>
        </p:txBody>
      </p:sp>
      <p:sp>
        <p:nvSpPr>
          <p:cNvPr id="8" name="Text 4"/>
          <p:cNvSpPr/>
          <p:nvPr/>
        </p:nvSpPr>
        <p:spPr>
          <a:xfrm>
            <a:off x="1076126" y="5289104"/>
            <a:ext cx="10036697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i="1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années de protection. Les ajustements structurels, publics comme privés, ont été sans cesse repoussés.</a:t>
            </a:r>
            <a:endParaRPr lang="fr-FR" noProof="1"/>
          </a:p>
        </p:txBody>
      </p:sp>
      <p:sp>
        <p:nvSpPr>
          <p:cNvPr id="9" name="Text 5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fr-FR" sz="1000" noProof="1"/>
          </a:p>
        </p:txBody>
      </p:sp>
      <p:sp>
        <p:nvSpPr>
          <p:cNvPr id="10" name="Text 6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40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740664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5B6B7F"/>
                </a:solidFill>
                <a:latin typeface="Calibri" pitchFamily="34" charset="0"/>
                <a:cs typeface="Calibri" pitchFamily="34" charset="-120"/>
              </a:rPr>
              <a:t>DE LA BCE À LA PME LOCALE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fr-FR" sz="32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boucle fatale</a:t>
            </a:r>
            <a:r>
              <a:rPr lang="fr-FR" sz="32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: sovereign-bank nexus</a:t>
            </a:r>
            <a:endParaRPr lang="fr-FR" sz="3200" noProof="1"/>
          </a:p>
        </p:txBody>
      </p:sp>
      <p:sp>
        <p:nvSpPr>
          <p:cNvPr id="5" name="Shape 3"/>
          <p:cNvSpPr/>
          <p:nvPr/>
        </p:nvSpPr>
        <p:spPr>
          <a:xfrm>
            <a:off x="2606040" y="2971800"/>
            <a:ext cx="2011680" cy="2011680"/>
          </a:xfrm>
          <a:prstGeom prst="ellipse">
            <a:avLst/>
          </a:prstGeom>
          <a:solidFill>
            <a:srgbClr val="1A2233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41071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7480" y="4142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fr-FR" sz="1150" b="1" kern="0" spc="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</a:t>
            </a:r>
            <a:endParaRPr lang="fr-FR" sz="1150" noProof="1"/>
          </a:p>
          <a:p>
            <a:pPr marL="0" indent="0" algn="ctr">
              <a:lnSpc>
                <a:spcPct val="100000"/>
              </a:lnSpc>
              <a:buNone/>
            </a:pPr>
            <a:r>
              <a:rPr lang="fr-FR" sz="1150" b="1" kern="0" spc="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DOMESTIQUE</a:t>
            </a:r>
            <a:endParaRPr lang="fr-FR" sz="1150" noProof="1"/>
          </a:p>
        </p:txBody>
      </p:sp>
      <p:sp>
        <p:nvSpPr>
          <p:cNvPr id="8" name="Shape 5"/>
          <p:cNvSpPr/>
          <p:nvPr/>
        </p:nvSpPr>
        <p:spPr>
          <a:xfrm>
            <a:off x="3136392" y="2057400"/>
            <a:ext cx="950976" cy="9509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92F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286000"/>
            <a:ext cx="493776" cy="4937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81144" y="3502152"/>
            <a:ext cx="950976" cy="9509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92F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3730752"/>
            <a:ext cx="493776" cy="49377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36392" y="4946904"/>
            <a:ext cx="950976" cy="9509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92F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5175504"/>
            <a:ext cx="493776" cy="49377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691640" y="3502152"/>
            <a:ext cx="950976" cy="9509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92F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0240" y="3730752"/>
            <a:ext cx="493776" cy="4937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148840" y="1664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50" b="1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Spread se tend</a:t>
            </a:r>
            <a:endParaRPr lang="fr-FR" sz="1250" noProof="1"/>
          </a:p>
        </p:txBody>
      </p:sp>
      <p:sp>
        <p:nvSpPr>
          <p:cNvPr id="17" name="Text 10"/>
          <p:cNvSpPr/>
          <p:nvPr/>
        </p:nvSpPr>
        <p:spPr>
          <a:xfrm>
            <a:off x="5650992" y="3813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50" b="1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Obligations ↓</a:t>
            </a:r>
            <a:endParaRPr lang="fr-FR" sz="1250" noProof="1"/>
          </a:p>
        </p:txBody>
      </p:sp>
      <p:sp>
        <p:nvSpPr>
          <p:cNvPr id="18" name="Text 11"/>
          <p:cNvSpPr/>
          <p:nvPr/>
        </p:nvSpPr>
        <p:spPr>
          <a:xfrm>
            <a:off x="2148840" y="5879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50" b="1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Bilan dégradé</a:t>
            </a:r>
            <a:endParaRPr lang="fr-FR" sz="1250" noProof="1"/>
          </a:p>
        </p:txBody>
      </p:sp>
      <p:sp>
        <p:nvSpPr>
          <p:cNvPr id="19" name="Text 12"/>
          <p:cNvSpPr/>
          <p:nvPr/>
        </p:nvSpPr>
        <p:spPr>
          <a:xfrm>
            <a:off x="-196596" y="38130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50" b="1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Crédit restreint</a:t>
            </a:r>
            <a:endParaRPr lang="fr-FR" sz="1250" noProof="1"/>
          </a:p>
        </p:txBody>
      </p:sp>
      <p:sp>
        <p:nvSpPr>
          <p:cNvPr id="20" name="Text 13"/>
          <p:cNvSpPr/>
          <p:nvPr/>
        </p:nvSpPr>
        <p:spPr>
          <a:xfrm>
            <a:off x="7635240" y="2743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20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banques françaises détiennent massivement la dette de l'État français.</a:t>
            </a:r>
            <a:endParaRPr lang="fr-FR" sz="2000" noProof="1"/>
          </a:p>
        </p:txBody>
      </p:sp>
      <p:sp>
        <p:nvSpPr>
          <p:cNvPr id="21" name="Text 14"/>
          <p:cNvSpPr/>
          <p:nvPr/>
        </p:nvSpPr>
        <p:spPr>
          <a:xfrm>
            <a:off x="7635240" y="3886200"/>
            <a:ext cx="4023360" cy="798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45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spread se tend, leurs bilans se dégradent. Pour tenir leurs ratios, elles restreignent le credit ou montent leurs taux.</a:t>
            </a:r>
            <a:endParaRPr lang="fr-FR" sz="1450" noProof="1"/>
          </a:p>
        </p:txBody>
      </p:sp>
      <p:sp>
        <p:nvSpPr>
          <p:cNvPr id="22" name="Text 15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fr-FR" sz="1000" noProof="1"/>
          </a:p>
        </p:txBody>
      </p:sp>
      <p:sp>
        <p:nvSpPr>
          <p:cNvPr id="23" name="Text 16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978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RETOURNEMENT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Juin 2026 : </a:t>
            </a:r>
            <a:r>
              <a:rPr lang="fr-FR" sz="32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Tightening</a:t>
            </a:r>
            <a:endParaRPr lang="fr-FR" sz="3200" noProof="1"/>
          </a:p>
        </p:txBody>
      </p:sp>
      <p:sp>
        <p:nvSpPr>
          <p:cNvPr id="5" name="Shape 3"/>
          <p:cNvSpPr/>
          <p:nvPr/>
        </p:nvSpPr>
        <p:spPr>
          <a:xfrm>
            <a:off x="868680" y="246888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232E42"/>
          </a:solidFill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6" name="Text 4"/>
          <p:cNvSpPr/>
          <p:nvPr/>
        </p:nvSpPr>
        <p:spPr>
          <a:xfrm>
            <a:off x="132588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kern="0" spc="2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· QE</a:t>
            </a:r>
            <a:endParaRPr lang="fr-FR" sz="1300" noProof="1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42900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0" y="35661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fr-FR" sz="2000" b="1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qui gonfle</a:t>
            </a:r>
            <a:endParaRPr lang="fr-FR" sz="2000" noProof="1"/>
          </a:p>
          <a:p>
            <a:pPr marL="0" indent="0" algn="l">
              <a:spcAft>
                <a:spcPts val="600"/>
              </a:spcAft>
              <a:buNone/>
            </a:pPr>
            <a:r>
              <a:rPr lang="fr-FR" sz="14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comprimés, primes de risque endormies.</a:t>
            </a:r>
            <a:endParaRPr lang="fr-FR" sz="2000" noProof="1"/>
          </a:p>
        </p:txBody>
      </p:sp>
      <p:sp>
        <p:nvSpPr>
          <p:cNvPr id="9" name="Shape 6"/>
          <p:cNvSpPr/>
          <p:nvPr/>
        </p:nvSpPr>
        <p:spPr>
          <a:xfrm>
            <a:off x="6291072" y="246888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C8492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10" name="Text 7"/>
          <p:cNvSpPr/>
          <p:nvPr/>
        </p:nvSpPr>
        <p:spPr>
          <a:xfrm>
            <a:off x="6748272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kern="0" spc="200" noProof="1">
                <a:solidFill>
                  <a:srgbClr val="F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· QT</a:t>
            </a:r>
            <a:endParaRPr lang="fr-FR" sz="1300" noProof="1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3429000"/>
            <a:ext cx="1371600" cy="1371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748272" y="34290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3566160"/>
            <a:ext cx="1097280" cy="10972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48472" y="3474720"/>
            <a:ext cx="263561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fr-FR" sz="2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qui dégonfle</a:t>
            </a:r>
            <a:endParaRPr lang="fr-FR" sz="2000" noProof="1"/>
          </a:p>
          <a:p>
            <a:pPr marL="0" indent="0" algn="l">
              <a:spcAft>
                <a:spcPts val="600"/>
              </a:spcAft>
              <a:buNone/>
            </a:pPr>
            <a:r>
              <a:rPr lang="fr-FR" sz="1400" noProof="1">
                <a:solidFill>
                  <a:srgbClr val="F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primes de risque réelles sont de retour.</a:t>
            </a:r>
            <a:endParaRPr lang="fr-FR" sz="2000" noProof="1"/>
          </a:p>
        </p:txBody>
      </p:sp>
      <p:sp>
        <p:nvSpPr>
          <p:cNvPr id="15" name="Shape 10"/>
          <p:cNvSpPr/>
          <p:nvPr/>
        </p:nvSpPr>
        <p:spPr>
          <a:xfrm>
            <a:off x="2985516" y="5806440"/>
            <a:ext cx="6217920" cy="548640"/>
          </a:xfrm>
          <a:prstGeom prst="roundRect">
            <a:avLst>
              <a:gd name="adj" fmla="val 50000"/>
            </a:avLst>
          </a:prstGeom>
          <a:solidFill>
            <a:srgbClr val="232E42"/>
          </a:solidFill>
          <a:ln w="12700">
            <a:solidFill>
              <a:srgbClr val="C8492F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6" name="Text 11"/>
          <p:cNvSpPr/>
          <p:nvPr/>
        </p:nvSpPr>
        <p:spPr>
          <a:xfrm>
            <a:off x="2985516" y="5806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kern="0" spc="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REFINANCEMENT ET RISQUE DE TAUX</a:t>
            </a:r>
            <a:endParaRPr lang="fr-FR" sz="1300" noProof="1"/>
          </a:p>
        </p:txBody>
      </p:sp>
      <p:sp>
        <p:nvSpPr>
          <p:cNvPr id="17" name="Text 1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fr-FR" sz="1000" noProof="1"/>
          </a:p>
        </p:txBody>
      </p:sp>
      <p:sp>
        <p:nvSpPr>
          <p:cNvPr id="18" name="Text 13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978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40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ATOS</a:t>
            </a:r>
            <a:r>
              <a:rPr lang="fr-FR" sz="2800" b="1" noProof="1">
                <a:solidFill>
                  <a:srgbClr val="9F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face au mur de la dette</a:t>
            </a:r>
            <a:endParaRPr lang="fr-FR" sz="4000" noProof="1"/>
          </a:p>
        </p:txBody>
      </p:sp>
      <p:sp>
        <p:nvSpPr>
          <p:cNvPr id="5" name="Shape 3"/>
          <p:cNvSpPr/>
          <p:nvPr/>
        </p:nvSpPr>
        <p:spPr>
          <a:xfrm>
            <a:off x="7680960" y="2377440"/>
            <a:ext cx="2194560" cy="3108960"/>
          </a:xfrm>
          <a:prstGeom prst="rect">
            <a:avLst/>
          </a:prstGeom>
          <a:solidFill>
            <a:srgbClr val="232E42"/>
          </a:solidFill>
          <a:ln w="25400">
            <a:solidFill>
              <a:srgbClr val="C8492F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788920"/>
            <a:ext cx="822960" cy="8229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06640" y="38176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60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</a:t>
            </a:r>
            <a:r>
              <a:rPr lang="fr-FR" sz="24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Mds €</a:t>
            </a:r>
            <a:endParaRPr lang="fr-FR" sz="6000" noProof="1"/>
          </a:p>
        </p:txBody>
      </p:sp>
      <p:sp>
        <p:nvSpPr>
          <p:cNvPr id="14" name="Text 11"/>
          <p:cNvSpPr/>
          <p:nvPr/>
        </p:nvSpPr>
        <p:spPr>
          <a:xfrm>
            <a:off x="722376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1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 DE REFINANCEMENT</a:t>
            </a:r>
            <a:endParaRPr lang="fr-FR" sz="1100" noProof="1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108960"/>
            <a:ext cx="1828800" cy="1828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29946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9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Dette contractée à taux bas</a:t>
            </a:r>
            <a:endParaRPr lang="fr-FR" sz="1900" noProof="1"/>
          </a:p>
        </p:txBody>
      </p:sp>
      <p:sp>
        <p:nvSpPr>
          <p:cNvPr id="17" name="Text 13"/>
          <p:cNvSpPr/>
          <p:nvPr/>
        </p:nvSpPr>
        <p:spPr>
          <a:xfrm>
            <a:off x="914400" y="3383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4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Fragilités opérationnelles masquées par la subvention monétaire. Les taux remontants, le refinancement obligataire devient impossible.</a:t>
            </a:r>
            <a:endParaRPr lang="fr-FR" sz="1400" noProof="1"/>
          </a:p>
        </p:txBody>
      </p:sp>
      <p:sp>
        <p:nvSpPr>
          <p:cNvPr id="18" name="Text 14"/>
          <p:cNvSpPr/>
          <p:nvPr/>
        </p:nvSpPr>
        <p:spPr>
          <a:xfrm>
            <a:off x="91440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forcée</a:t>
            </a:r>
            <a:endParaRPr lang="fr-FR" sz="1400" noProof="1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5943600"/>
            <a:ext cx="41148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2628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massive</a:t>
            </a:r>
            <a:endParaRPr lang="fr-FR" sz="1400" noProof="1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5943600"/>
            <a:ext cx="41148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3816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Quasi-cessation des paiments</a:t>
            </a:r>
            <a:endParaRPr lang="fr-FR" sz="1400" noProof="1"/>
          </a:p>
        </p:txBody>
      </p:sp>
      <p:sp>
        <p:nvSpPr>
          <p:cNvPr id="23" name="Text 17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fr-FR" sz="1000" noProof="1"/>
          </a:p>
        </p:txBody>
      </p:sp>
      <p:sp>
        <p:nvSpPr>
          <p:cNvPr id="24" name="Text 18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122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877824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TISSU ÉCONOMIQUE NATIONAL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121889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0" b="1" kern="0" spc="100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70 200</a:t>
            </a:r>
            <a:endParaRPr lang="fr-FR" sz="20000" noProof="1"/>
          </a:p>
        </p:txBody>
      </p:sp>
      <p:sp>
        <p:nvSpPr>
          <p:cNvPr id="5" name="Text 3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7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défaillances d'entreprises · cumul 12 mois · avril 2026</a:t>
            </a:r>
            <a:endParaRPr lang="fr-FR" sz="1700" noProof="1"/>
          </a:p>
        </p:txBody>
      </p:sp>
      <p:sp>
        <p:nvSpPr>
          <p:cNvPr id="6" name="Shape 4"/>
          <p:cNvSpPr/>
          <p:nvPr/>
        </p:nvSpPr>
        <p:spPr>
          <a:xfrm>
            <a:off x="2894076" y="480060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" name="Text 5"/>
          <p:cNvSpPr/>
          <p:nvPr/>
        </p:nvSpPr>
        <p:spPr>
          <a:xfrm>
            <a:off x="2894076" y="4800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kern="0" spc="2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RECORD</a:t>
            </a:r>
            <a:endParaRPr lang="fr-FR" sz="1300" noProof="1"/>
          </a:p>
        </p:txBody>
      </p:sp>
      <p:sp>
        <p:nvSpPr>
          <p:cNvPr id="8" name="Shape 6"/>
          <p:cNvSpPr/>
          <p:nvPr/>
        </p:nvSpPr>
        <p:spPr>
          <a:xfrm>
            <a:off x="5500116" y="4800600"/>
            <a:ext cx="3794760" cy="502920"/>
          </a:xfrm>
          <a:prstGeom prst="roundRect">
            <a:avLst>
              <a:gd name="adj" fmla="val 50000"/>
            </a:avLst>
          </a:prstGeom>
          <a:solidFill>
            <a:srgbClr val="232E42"/>
          </a:solidFill>
          <a:ln w="127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5500116" y="48006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kern="0" spc="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 DE LA ZOMBIFICATION</a:t>
            </a:r>
            <a:endParaRPr lang="fr-FR" sz="1300" noProof="1"/>
          </a:p>
        </p:txBody>
      </p:sp>
      <p:sp>
        <p:nvSpPr>
          <p:cNvPr id="10" name="Text 8"/>
          <p:cNvSpPr/>
          <p:nvPr/>
        </p:nvSpPr>
        <p:spPr>
          <a:xfrm>
            <a:off x="1828800" y="562356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i="1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rattrapage brutal des taux zéro et des PGE. Une purge douloureuse, mais inévitable.</a:t>
            </a:r>
            <a:endParaRPr lang="fr-FR" sz="1400" noProof="1"/>
          </a:p>
        </p:txBody>
      </p:sp>
      <p:sp>
        <p:nvSpPr>
          <p:cNvPr id="11" name="Text 9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fr-FR" sz="1000" noProof="1"/>
          </a:p>
        </p:txBody>
      </p:sp>
      <p:sp>
        <p:nvSpPr>
          <p:cNvPr id="12" name="Text 10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40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740664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CHOC DE TAUX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Modeste en apparence, brutal en pratique</a:t>
            </a:r>
            <a:endParaRPr lang="fr-FR" sz="3200" noProof="1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0" b="1" noProof="1">
                <a:solidFill>
                  <a:srgbClr val="8A99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</a:t>
            </a:r>
            <a:r>
              <a:rPr lang="fr-FR" sz="4400" noProof="1">
                <a:solidFill>
                  <a:srgbClr val="8A99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fr-FR" sz="11000" noProof="1"/>
          </a:p>
        </p:txBody>
      </p:sp>
      <p:sp>
        <p:nvSpPr>
          <p:cNvPr id="6" name="Text 4"/>
          <p:cNvSpPr/>
          <p:nvPr/>
        </p:nvSpPr>
        <p:spPr>
          <a:xfrm>
            <a:off x="749808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kern="0" spc="2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EMPRUNTÉ EN 2022</a:t>
            </a:r>
            <a:endParaRPr lang="fr-FR" sz="1300" noProof="1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697480"/>
            <a:ext cx="100584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21488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~3,5</a:t>
            </a:r>
            <a:r>
              <a:rPr lang="fr-FR" sz="5200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fr-FR" sz="13000" noProof="1"/>
          </a:p>
        </p:txBody>
      </p:sp>
      <p:sp>
        <p:nvSpPr>
          <p:cNvPr id="9" name="Text 6"/>
          <p:cNvSpPr/>
          <p:nvPr/>
        </p:nvSpPr>
        <p:spPr>
          <a:xfrm>
            <a:off x="6510528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kern="0" spc="200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REFINANCER AUJOURD'HUI</a:t>
            </a:r>
            <a:endParaRPr lang="fr-FR" sz="1300" noProof="1"/>
          </a:p>
        </p:txBody>
      </p:sp>
      <p:sp>
        <p:nvSpPr>
          <p:cNvPr id="10" name="Shape 7"/>
          <p:cNvSpPr/>
          <p:nvPr/>
        </p:nvSpPr>
        <p:spPr>
          <a:xfrm>
            <a:off x="640080" y="5120640"/>
            <a:ext cx="10908792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1" name="Text 8"/>
          <p:cNvSpPr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1500" noProof="1"/>
          </a:p>
        </p:txBody>
      </p:sp>
      <p:sp>
        <p:nvSpPr>
          <p:cNvPr id="12" name="Text 9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fr-FR" sz="1000" noProof="1"/>
          </a:p>
        </p:txBody>
      </p:sp>
      <p:sp>
        <p:nvSpPr>
          <p:cNvPr id="13" name="Text 10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40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740664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TERRAIN · ETI INDUSTRIELLE RÉGIONALE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</a:t>
            </a:r>
            <a:r>
              <a:rPr lang="fr-FR" sz="32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effet ciseaux</a:t>
            </a:r>
            <a:r>
              <a:rPr lang="fr-FR" sz="32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sur le bilan</a:t>
            </a:r>
            <a:endParaRPr lang="fr-FR" sz="3200" noProof="1"/>
          </a:p>
        </p:txBody>
      </p:sp>
      <p:sp>
        <p:nvSpPr>
          <p:cNvPr id="5" name="Shape 3"/>
          <p:cNvSpPr/>
          <p:nvPr/>
        </p:nvSpPr>
        <p:spPr>
          <a:xfrm>
            <a:off x="5568696" y="1897380"/>
            <a:ext cx="1051560" cy="1051560"/>
          </a:xfrm>
          <a:prstGeom prst="ellipse">
            <a:avLst/>
          </a:prstGeom>
          <a:solidFill>
            <a:srgbClr val="F2F4F7"/>
          </a:solidFill>
          <a:ln w="15875">
            <a:solidFill>
              <a:srgbClr val="E2E6EB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297" y="2133981"/>
            <a:ext cx="578358" cy="5783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05840" y="338328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6301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35478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fr-FR" sz="1800" b="1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Marges ↓</a:t>
            </a:r>
            <a:endParaRPr lang="fr-FR" sz="1800" noProof="1"/>
          </a:p>
          <a:p>
            <a:pPr marL="0" indent="0" algn="l">
              <a:spcAft>
                <a:spcPts val="200"/>
              </a:spcAft>
              <a:buNone/>
            </a:pPr>
            <a:r>
              <a:rPr lang="fr-FR" sz="125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qui ralentit, coûts (énergie) qui pèsent</a:t>
            </a:r>
            <a:endParaRPr lang="fr-FR" sz="1800" noProof="1"/>
          </a:p>
        </p:txBody>
      </p:sp>
      <p:sp>
        <p:nvSpPr>
          <p:cNvPr id="10" name="Shape 6"/>
          <p:cNvSpPr/>
          <p:nvPr/>
        </p:nvSpPr>
        <p:spPr>
          <a:xfrm>
            <a:off x="6309360" y="338328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1A223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63016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69480" y="35478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fr-FR" sz="18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financières ↑↑</a:t>
            </a:r>
            <a:endParaRPr lang="fr-FR" sz="1800" noProof="1"/>
          </a:p>
          <a:p>
            <a:pPr marL="0" indent="0" algn="l">
              <a:spcAft>
                <a:spcPts val="200"/>
              </a:spcAft>
              <a:buNone/>
            </a:pPr>
            <a:r>
              <a:rPr lang="fr-FR" sz="125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Refinancement, amortissement du PGE</a:t>
            </a:r>
            <a:endParaRPr lang="fr-FR" sz="1800" noProof="1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308" y="4480560"/>
            <a:ext cx="402336" cy="4572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168396" y="5029200"/>
            <a:ext cx="5852160" cy="1051560"/>
          </a:xfrm>
          <a:prstGeom prst="roundRect">
            <a:avLst>
              <a:gd name="adj" fmla="val 10435"/>
            </a:avLst>
          </a:prstGeom>
          <a:solidFill>
            <a:srgbClr val="C8492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15" name="Text 9"/>
          <p:cNvSpPr/>
          <p:nvPr/>
        </p:nvSpPr>
        <p:spPr>
          <a:xfrm>
            <a:off x="3351276" y="513892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fr-FR" sz="1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RBE n'absorbe plus le choc</a:t>
            </a:r>
            <a:endParaRPr lang="fr-FR" sz="1900" noProof="1"/>
          </a:p>
          <a:p>
            <a:pPr marL="0" indent="0" algn="ctr">
              <a:spcAft>
                <a:spcPts val="300"/>
              </a:spcAft>
              <a:buNone/>
            </a:pPr>
            <a:r>
              <a:rPr lang="fr-FR" sz="1350" noProof="1">
                <a:solidFill>
                  <a:srgbClr val="F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mathématique : je dégrade la cotation FIBEN</a:t>
            </a:r>
            <a:endParaRPr lang="fr-FR" sz="1900" noProof="1"/>
          </a:p>
        </p:txBody>
      </p:sp>
      <p:sp>
        <p:nvSpPr>
          <p:cNvPr id="16" name="Text 1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fr-FR" sz="1000" noProof="1"/>
          </a:p>
        </p:txBody>
      </p:sp>
      <p:sp>
        <p:nvSpPr>
          <p:cNvPr id="17" name="Text 11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40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740664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L'ÉTAT N'INTERVIENT PLUS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bouclier budgétaire est épuisé</a:t>
            </a:r>
            <a:endParaRPr lang="fr-FR" sz="3200" noProof="1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r>
              <a:rPr lang="fr-FR" sz="7000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fr-FR" sz="15000" noProof="1"/>
          </a:p>
        </p:txBody>
      </p:sp>
      <p:sp>
        <p:nvSpPr>
          <p:cNvPr id="6" name="Text 4"/>
          <p:cNvSpPr/>
          <p:nvPr/>
        </p:nvSpPr>
        <p:spPr>
          <a:xfrm>
            <a:off x="566928" y="4343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b="1" kern="0" spc="200" noProof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PUBLIQUE / PIB · FRANCE</a:t>
            </a:r>
            <a:endParaRPr lang="fr-FR" sz="1500" noProof="1"/>
          </a:p>
        </p:txBody>
      </p:sp>
      <p:sp>
        <p:nvSpPr>
          <p:cNvPr id="7" name="Text 5"/>
          <p:cNvSpPr/>
          <p:nvPr/>
        </p:nvSpPr>
        <p:spPr>
          <a:xfrm>
            <a:off x="566928" y="4892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5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la BCE pour comprimer nos spreads, toute nouvelle émission de dette coûterait immédiatement trop cher.</a:t>
            </a:r>
            <a:endParaRPr lang="fr-FR" sz="1500" noProof="1"/>
          </a:p>
        </p:txBody>
      </p:sp>
      <p:sp>
        <p:nvSpPr>
          <p:cNvPr id="8" name="Shape 6"/>
          <p:cNvSpPr/>
          <p:nvPr/>
        </p:nvSpPr>
        <p:spPr>
          <a:xfrm>
            <a:off x="7589520" y="237744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1A2233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9" name="Shape 7"/>
          <p:cNvSpPr/>
          <p:nvPr/>
        </p:nvSpPr>
        <p:spPr>
          <a:xfrm>
            <a:off x="8915400" y="2834640"/>
            <a:ext cx="1371600" cy="1371600"/>
          </a:xfrm>
          <a:prstGeom prst="ellipse">
            <a:avLst/>
          </a:prstGeom>
          <a:solidFill>
            <a:srgbClr val="232E42"/>
          </a:solidFill>
          <a:ln w="15875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3177540"/>
            <a:ext cx="685800" cy="685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0" y="4434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1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L'État ne peut plus jouer le bouclier universel.</a:t>
            </a:r>
            <a:endParaRPr lang="fr-FR" sz="1800" noProof="1"/>
          </a:p>
        </p:txBody>
      </p:sp>
      <p:sp>
        <p:nvSpPr>
          <p:cNvPr id="12" name="Text 9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fr-FR" sz="1000" noProof="1"/>
          </a:p>
        </p:txBody>
      </p:sp>
      <p:sp>
        <p:nvSpPr>
          <p:cNvPr id="13" name="Text 10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978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EUROPÉEN SE REFERME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retour des </a:t>
            </a:r>
            <a:r>
              <a:rPr lang="fr-FR" sz="32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règles</a:t>
            </a:r>
            <a:endParaRPr lang="fr-FR" sz="3200" noProof="1"/>
          </a:p>
        </p:txBody>
      </p:sp>
      <p:sp>
        <p:nvSpPr>
          <p:cNvPr id="5" name="Shape 3"/>
          <p:cNvSpPr/>
          <p:nvPr/>
        </p:nvSpPr>
        <p:spPr>
          <a:xfrm>
            <a:off x="5317236" y="2286000"/>
            <a:ext cx="1554480" cy="1554480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856" y="267462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406908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Pacte de Stabilité et de Croissance</a:t>
            </a:r>
            <a:endParaRPr lang="fr-FR" sz="3800" noProof="1"/>
          </a:p>
        </p:txBody>
      </p:sp>
      <p:sp>
        <p:nvSpPr>
          <p:cNvPr id="8" name="Shape 5"/>
          <p:cNvSpPr/>
          <p:nvPr/>
        </p:nvSpPr>
        <p:spPr>
          <a:xfrm>
            <a:off x="4265676" y="4892040"/>
            <a:ext cx="3657600" cy="548640"/>
          </a:xfrm>
          <a:prstGeom prst="roundRect">
            <a:avLst>
              <a:gd name="adj" fmla="val 50000"/>
            </a:avLst>
          </a:prstGeom>
          <a:solidFill>
            <a:srgbClr val="232E42"/>
          </a:solidFill>
          <a:ln w="12700">
            <a:solidFill>
              <a:srgbClr val="C8492F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9" name="Text 6"/>
          <p:cNvSpPr/>
          <p:nvPr/>
        </p:nvSpPr>
        <p:spPr>
          <a:xfrm>
            <a:off x="4265676" y="4892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kern="0" spc="2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RÉFORMÉ · RÉACTIVÉ</a:t>
            </a:r>
            <a:endParaRPr lang="fr-FR" sz="1400" noProof="1"/>
          </a:p>
        </p:txBody>
      </p:sp>
      <p:sp>
        <p:nvSpPr>
          <p:cNvPr id="10" name="Text 7"/>
          <p:cNvSpPr/>
          <p:nvPr/>
        </p:nvSpPr>
        <p:spPr>
          <a:xfrm>
            <a:off x="1828800" y="571500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i="1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porte budgétaire se referme. Les marges de manœuvre nationales disparaissent.</a:t>
            </a:r>
            <a:endParaRPr lang="fr-FR" sz="1500" noProof="1"/>
          </a:p>
        </p:txBody>
      </p:sp>
      <p:sp>
        <p:nvSpPr>
          <p:cNvPr id="11" name="Text 8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fr-FR" sz="1000" noProof="1"/>
          </a:p>
        </p:txBody>
      </p:sp>
      <p:sp>
        <p:nvSpPr>
          <p:cNvPr id="12" name="Text 9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982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1152144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SE FERME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4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risque n'avait pas disparu.</a:t>
            </a:r>
            <a:endParaRPr lang="fr-FR" sz="4800" noProof="1"/>
          </a:p>
          <a:p>
            <a:pPr marL="0" indent="0" algn="l">
              <a:lnSpc>
                <a:spcPct val="100000"/>
              </a:lnSpc>
              <a:buNone/>
            </a:pPr>
            <a:r>
              <a:rPr lang="fr-FR" sz="4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a été </a:t>
            </a:r>
            <a:r>
              <a:rPr lang="fr-FR" sz="48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différé.</a:t>
            </a:r>
            <a:endParaRPr lang="fr-FR" sz="4800" noProof="1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65760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2" y="3657600"/>
            <a:ext cx="914400" cy="914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34640" y="4160520"/>
            <a:ext cx="6519672" cy="0"/>
          </a:xfrm>
          <a:prstGeom prst="line">
            <a:avLst/>
          </a:prstGeom>
          <a:noFill/>
          <a:ln w="1905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8" name="Shape 4"/>
          <p:cNvSpPr/>
          <p:nvPr/>
        </p:nvSpPr>
        <p:spPr>
          <a:xfrm>
            <a:off x="2752344" y="4078224"/>
            <a:ext cx="164592" cy="164592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Shape 5"/>
          <p:cNvSpPr/>
          <p:nvPr/>
        </p:nvSpPr>
        <p:spPr>
          <a:xfrm>
            <a:off x="9272016" y="407822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0" name="Shape 6"/>
          <p:cNvSpPr/>
          <p:nvPr/>
        </p:nvSpPr>
        <p:spPr>
          <a:xfrm>
            <a:off x="5682996" y="3749040"/>
            <a:ext cx="822960" cy="822960"/>
          </a:xfrm>
          <a:prstGeom prst="ellipse">
            <a:avLst/>
          </a:prstGeom>
          <a:solidFill>
            <a:srgbClr val="C8492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88" y="3913632"/>
            <a:ext cx="493776" cy="493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1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OBLIGATAIRES</a:t>
            </a:r>
            <a:endParaRPr lang="fr-FR" sz="1100" noProof="1"/>
          </a:p>
        </p:txBody>
      </p:sp>
      <p:sp>
        <p:nvSpPr>
          <p:cNvPr id="13" name="Text 8"/>
          <p:cNvSpPr/>
          <p:nvPr/>
        </p:nvSpPr>
        <p:spPr>
          <a:xfrm>
            <a:off x="8668512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1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USINES RÉGIONALES</a:t>
            </a:r>
            <a:endParaRPr lang="fr-FR" sz="1100" noProof="1"/>
          </a:p>
        </p:txBody>
      </p:sp>
      <p:sp>
        <p:nvSpPr>
          <p:cNvPr id="14" name="Text 9"/>
          <p:cNvSpPr/>
          <p:nvPr/>
        </p:nvSpPr>
        <p:spPr>
          <a:xfrm>
            <a:off x="1623060" y="5715000"/>
            <a:ext cx="8638540" cy="36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i="1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reprend son rôle de juge et sanctionne implacablement les bilans les plus sensibles au risque de taux.</a:t>
            </a:r>
            <a:endParaRPr lang="fr-FR" sz="1500" noProof="1"/>
          </a:p>
        </p:txBody>
      </p:sp>
      <p:sp>
        <p:nvSpPr>
          <p:cNvPr id="15" name="Text 1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fr-FR" sz="1000" noProof="1"/>
          </a:p>
        </p:txBody>
      </p:sp>
      <p:sp>
        <p:nvSpPr>
          <p:cNvPr id="16" name="Text 11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40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740664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fr-FR" sz="1150" noProof="1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l'alternance m'a appris</a:t>
            </a:r>
            <a:endParaRPr lang="fr-FR" sz="3200" noProof="1"/>
          </a:p>
        </p:txBody>
      </p:sp>
      <p:sp>
        <p:nvSpPr>
          <p:cNvPr id="5" name="Shape 3"/>
          <p:cNvSpPr/>
          <p:nvPr/>
        </p:nvSpPr>
        <p:spPr>
          <a:xfrm>
            <a:off x="868680" y="24688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6" name="Text 4"/>
          <p:cNvSpPr/>
          <p:nvPr/>
        </p:nvSpPr>
        <p:spPr>
          <a:xfrm>
            <a:off x="1280160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kern="0" spc="2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CROYAIS</a:t>
            </a:r>
            <a:endParaRPr lang="fr-FR" sz="1200" noProof="1"/>
          </a:p>
        </p:txBody>
      </p:sp>
      <p:sp>
        <p:nvSpPr>
          <p:cNvPr id="7" name="Text 5"/>
          <p:cNvSpPr/>
          <p:nvPr/>
        </p:nvSpPr>
        <p:spPr>
          <a:xfrm>
            <a:off x="1280159" y="3383280"/>
            <a:ext cx="424010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2400" i="1" strike="sngStrike" noProof="1">
                <a:solidFill>
                  <a:srgbClr val="8A99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lecture mécanique de ratios.</a:t>
            </a:r>
            <a:endParaRPr lang="fr-FR" sz="2400" noProof="1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3474720"/>
            <a:ext cx="64008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73952" y="24688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A2233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10" name="Text 7"/>
          <p:cNvSpPr/>
          <p:nvPr/>
        </p:nvSpPr>
        <p:spPr>
          <a:xfrm>
            <a:off x="6885432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kern="0" spc="200" noProof="1">
                <a:solidFill>
                  <a:srgbClr val="C8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COMPRIS</a:t>
            </a:r>
            <a:endParaRPr lang="fr-FR" sz="1200" noProof="1"/>
          </a:p>
        </p:txBody>
      </p:sp>
      <p:sp>
        <p:nvSpPr>
          <p:cNvPr id="11" name="Text 8"/>
          <p:cNvSpPr/>
          <p:nvPr/>
        </p:nvSpPr>
        <p:spPr>
          <a:xfrm>
            <a:off x="6885432" y="33832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2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jugement sur la trajectoire d'une entreprise, dans un contexte macro précis.</a:t>
            </a:r>
            <a:endParaRPr lang="fr-FR" sz="2200" noProof="1"/>
          </a:p>
        </p:txBody>
      </p:sp>
      <p:sp>
        <p:nvSpPr>
          <p:cNvPr id="12" name="Shape 9"/>
          <p:cNvSpPr/>
          <p:nvPr/>
        </p:nvSpPr>
        <p:spPr>
          <a:xfrm>
            <a:off x="3657600" y="5806440"/>
            <a:ext cx="4873752" cy="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3" name="Shape 10"/>
          <p:cNvSpPr/>
          <p:nvPr/>
        </p:nvSpPr>
        <p:spPr>
          <a:xfrm>
            <a:off x="3575304" y="5724144"/>
            <a:ext cx="164592" cy="164592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4" name="Shape 11"/>
          <p:cNvSpPr/>
          <p:nvPr/>
        </p:nvSpPr>
        <p:spPr>
          <a:xfrm>
            <a:off x="8449056" y="5724144"/>
            <a:ext cx="164592" cy="164592"/>
          </a:xfrm>
          <a:prstGeom prst="ellipse">
            <a:avLst/>
          </a:prstGeom>
          <a:solidFill>
            <a:srgbClr val="1A2233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5" name="Text 12"/>
          <p:cNvSpPr/>
          <p:nvPr/>
        </p:nvSpPr>
        <p:spPr>
          <a:xfrm>
            <a:off x="2560320" y="5952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kern="0" spc="2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fr-FR" sz="1000" noProof="1"/>
          </a:p>
        </p:txBody>
      </p:sp>
      <p:sp>
        <p:nvSpPr>
          <p:cNvPr id="16" name="Text 13"/>
          <p:cNvSpPr/>
          <p:nvPr/>
        </p:nvSpPr>
        <p:spPr>
          <a:xfrm>
            <a:off x="7434072" y="5952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kern="0" spc="200" noProof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endParaRPr lang="fr-FR" sz="1000" noProof="1"/>
          </a:p>
        </p:txBody>
      </p:sp>
      <p:sp>
        <p:nvSpPr>
          <p:cNvPr id="17" name="Text 14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noProof="1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fr-FR" sz="1000" noProof="1"/>
          </a:p>
        </p:txBody>
      </p:sp>
      <p:sp>
        <p:nvSpPr>
          <p:cNvPr id="18" name="Text 15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fr-FR" sz="9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029200"/>
            <a:ext cx="10360152" cy="0"/>
          </a:xfrm>
          <a:prstGeom prst="line">
            <a:avLst/>
          </a:prstGeom>
          <a:noFill/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3" name="Shape 1"/>
          <p:cNvSpPr/>
          <p:nvPr/>
        </p:nvSpPr>
        <p:spPr>
          <a:xfrm>
            <a:off x="914400" y="1001268"/>
            <a:ext cx="109728" cy="109728"/>
          </a:xfrm>
          <a:prstGeom prst="ellipse">
            <a:avLst/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" name="Text 2"/>
          <p:cNvSpPr/>
          <p:nvPr/>
        </p:nvSpPr>
        <p:spPr>
          <a:xfrm>
            <a:off x="1152144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50" b="1" kern="0" spc="3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PROFESSIONNEL</a:t>
            </a:r>
            <a:endParaRPr lang="fr-FR" sz="1150" noProof="1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10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4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Coter, c'est </a:t>
            </a:r>
            <a:r>
              <a:rPr lang="fr-FR" sz="4800" b="1" noProof="1">
                <a:solidFill>
                  <a:srgbClr val="C8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financer</a:t>
            </a:r>
            <a:r>
              <a:rPr lang="fr-FR" sz="4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l'économie réelle.</a:t>
            </a:r>
            <a:endParaRPr lang="fr-FR" sz="4800" noProof="1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7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transformer l'alternance en intégration pérenne, analyste financier à la Banque de France, en CDI.</a:t>
            </a:r>
            <a:endParaRPr lang="fr-FR" sz="1700" noProof="1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232E42"/>
          </a:solidFill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Cotation</a:t>
            </a:r>
            <a:endParaRPr lang="fr-FR" sz="1800" noProof="1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256" y="4315968"/>
            <a:ext cx="329184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11880" y="411480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232E42"/>
          </a:solidFill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1" name="Text 8"/>
          <p:cNvSpPr/>
          <p:nvPr/>
        </p:nvSpPr>
        <p:spPr>
          <a:xfrm>
            <a:off x="3611880" y="4114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</a:t>
            </a:r>
            <a:endParaRPr lang="fr-FR" sz="1800" noProof="1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4315968"/>
            <a:ext cx="329184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09360" y="411480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232E42"/>
          </a:solidFill>
          <a:ln w="12700">
            <a:solidFill>
              <a:srgbClr val="3A465C"/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14" name="Text 10"/>
          <p:cNvSpPr/>
          <p:nvPr/>
        </p:nvSpPr>
        <p:spPr>
          <a:xfrm>
            <a:off x="6309360" y="4114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Collatéral</a:t>
            </a:r>
            <a:endParaRPr lang="fr-FR" sz="1800" noProof="1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4315968"/>
            <a:ext cx="329184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06840" y="4114800"/>
            <a:ext cx="2240280" cy="685800"/>
          </a:xfrm>
          <a:prstGeom prst="roundRect">
            <a:avLst>
              <a:gd name="adj" fmla="val 13333"/>
            </a:avLst>
          </a:prstGeom>
          <a:solidFill>
            <a:srgbClr val="C8492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7" name="Text 12"/>
          <p:cNvSpPr/>
          <p:nvPr/>
        </p:nvSpPr>
        <p:spPr>
          <a:xfrm>
            <a:off x="9006840" y="4114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Confiance</a:t>
            </a:r>
            <a:endParaRPr lang="fr-FR" sz="1800" noProof="1"/>
          </a:p>
        </p:txBody>
      </p:sp>
      <p:sp>
        <p:nvSpPr>
          <p:cNvPr id="18" name="Text 13"/>
          <p:cNvSpPr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attention.</a:t>
            </a:r>
            <a:endParaRPr lang="fr-FR" sz="2200" noProof="1"/>
          </a:p>
        </p:txBody>
      </p:sp>
      <p:sp>
        <p:nvSpPr>
          <p:cNvPr id="19" name="Text 14"/>
          <p:cNvSpPr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400" noProof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à votre disposition pour vos questions.</a:t>
            </a:r>
            <a:endParaRPr lang="fr-FR" sz="1400" noProof="1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55778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1011</Words>
  <Application>Microsoft Macintosh PowerPoint</Application>
  <PresentationFormat>Grand écran</PresentationFormat>
  <Paragraphs>235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Jim Parthiot</cp:lastModifiedBy>
  <cp:revision>41</cp:revision>
  <dcterms:created xsi:type="dcterms:W3CDTF">2026-06-15T07:36:38Z</dcterms:created>
  <dcterms:modified xsi:type="dcterms:W3CDTF">2026-06-21T20:20:51Z</dcterms:modified>
</cp:coreProperties>
</file>